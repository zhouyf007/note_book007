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这份演示围绕轻笔记这个小应用展开，重点是它如何把快速记录、Markdown 编辑、轻量同步和可测试核心放在一个清晰的产品结构里。右侧的界面示意展示了应用最重要的体验：左侧管理笔记，右侧专注写作，底部给出同步反馈。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这一页说明产品主路径。用户先捕捉想法，再通过标题和列表组织内容，之后依靠更新时间和搜索回看，最后用 Markdown 预览把内容沉淀为可读记录。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这一页拆解界面职责。左侧区域只做选择、搜索和删除，右侧区域处理编辑和预览，底部状态栏则告诉用户内容是否已经同步，避免保存状态不透明。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 Markdown 处理链路。输入内容先进入编辑态高亮，再进入预览态渲染，同时通过 HTML 转义降低脚本注入风险。这不是完整 Markdown 引擎，但足够支撑轻量学习和会议记录。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这一页展示技术分层。DOM 交互和业务核心分开，NotesCore 负责数据规范化、排序、过滤和渲染，存储抽象再连接 localStorage 或远端接口，最后由 Node 服务写入 JSON 文件。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这一页说明同步状态。用户输入后进入脏状态，经过一百八十毫秒防抖后提交保存；远端开启两点五秒轮询，但正在编辑时跳过刷新，避免覆盖用户输入。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这一页描述数据契约。Note 对象只有五个核心字段，GET 和 PUT 接口也只围绕这个数组工作。当前实现已经考虑目录穿越和 HTML 转义，但原子写入和冲突版本仍是后续可靠性重点。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最后一页给出演进路线。近期应先修复编码和错误提示，再补原子写入、备份和导入导出；中期可以增加冲突提示、版本历史和全文索引，长期再考虑账号权限和多端同步。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5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33400" y="476250"/>
              <a:ext cx="895350" cy="57150"/>
            </a:xfrm>
            <a:prstGeom prst="rect">
              <a:avLst/>
            </a:prstGeom>
            <a:solidFill>
              <a:srgbClr val="1F7A65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1385888"/>
            <a:ext cx="4067937" cy="4416551"/>
            <a:chOff x="514350" y="1385888"/>
            <a:chExt cx="4067937" cy="4416551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1385888"/>
              <a:ext cx="2264378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轻笔记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0070" y="24431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产品设计与技术架构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5155882"/>
              <a:ext cx="401916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围绕快速记录、Markdown 编辑、轻量同步</a:t>
              </a:r>
              <a:r>
                <a:rPr lang="zh-CN" sz="16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和可测试核心展开。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153150" y="876300"/>
            <a:ext cx="5029200" cy="4400550"/>
            <a:chOff x="6153150" y="876300"/>
            <a:chExt cx="5029200" cy="4400550"/>
          </a:xfrm>
        </p:grpSpPr>
        <p:sp>
          <p:nvSpPr>
            <p:cNvPr id="9" name="Rectangle 9"/>
            <p:cNvSpPr/>
            <p:nvPr/>
          </p:nvSpPr>
          <p:spPr>
            <a:xfrm>
              <a:off x="6153150" y="876300"/>
              <a:ext cx="5029200" cy="4400550"/>
            </a:xfrm>
            <a:prstGeom prst="roundRect">
              <a:avLst>
                <a:gd name="adj" fmla="val 866"/>
              </a:avLst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153150" y="876300"/>
              <a:ext cx="5029200" cy="400050"/>
            </a:xfrm>
            <a:prstGeom prst="rect">
              <a:avLst/>
            </a:prstGeom>
            <a:solidFill>
              <a:srgbClr val="E7EAE5"/>
            </a:solidFill>
            <a:ln w="9525">
              <a:solidFill>
                <a:srgbClr val="B8C0BA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372225" y="1028700"/>
              <a:ext cx="95250" cy="95250"/>
            </a:xfrm>
            <a:prstGeom prst="ellipse">
              <a:avLst/>
            </a:prstGeom>
            <a:solidFill>
              <a:srgbClr val="E26A2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581775" y="1028700"/>
              <a:ext cx="95250" cy="95250"/>
            </a:xfrm>
            <a:prstGeom prst="ellipse">
              <a:avLst/>
            </a:prstGeom>
            <a:solidFill>
              <a:srgbClr val="D8A64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791325" y="1028700"/>
              <a:ext cx="95250" cy="95250"/>
            </a:xfrm>
            <a:prstGeom prst="ellipse">
              <a:avLst/>
            </a:prstGeom>
            <a:solidFill>
              <a:srgbClr val="1F7A6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53150" y="1276350"/>
              <a:ext cx="1504950" cy="400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87668" y="15554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轻笔记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62800" y="1476375"/>
              <a:ext cx="342900" cy="342900"/>
            </a:xfrm>
            <a:prstGeom prst="ellipse">
              <a:avLst/>
            </a:prstGeom>
            <a:solidFill>
              <a:srgbClr val="1F7A6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89292" y="15687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19850" y="1943100"/>
              <a:ext cx="1009650" cy="2667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62738" y="20173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搜索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19850" y="2400300"/>
              <a:ext cx="2038350" cy="552450"/>
            </a:xfrm>
            <a:prstGeom prst="roundRect">
              <a:avLst>
                <a:gd name="adj" fmla="val 6897"/>
              </a:avLst>
            </a:prstGeom>
            <a:solidFill>
              <a:srgbClr val="DCEFE8"/>
            </a:solidFill>
            <a:ln w="9525">
              <a:solidFill>
                <a:srgbClr val="A9D8C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24066" y="2534602"/>
              <a:ext cx="975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0708 学习笔记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4447" y="2733199"/>
              <a:ext cx="10607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Markdown / 架构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19850" y="3067050"/>
              <a:ext cx="2038350" cy="55245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24066" y="3201352"/>
              <a:ext cx="975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0707 学习笔记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24447" y="33999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产品体验复盘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29575" y="1664494"/>
              <a:ext cx="191409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Markdown 编辑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943850" y="2038350"/>
              <a:ext cx="2705100" cy="2000250"/>
            </a:xfrm>
            <a:prstGeom prst="rect">
              <a:avLst/>
            </a:prstGeom>
            <a:solidFill>
              <a:srgbClr val="F7F8F5"/>
            </a:solidFill>
            <a:ln w="9525">
              <a:solidFill>
                <a:srgbClr val="B8C0B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41030" y="2333625"/>
              <a:ext cx="1320165" cy="122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# 产品设计</a:t>
              </a:r>
            </a:p>
            <a:p>
              <a:pPr algn="l">
                <a:lnSpc>
                  <a:spcPts val="2250"/>
                </a:lnSpc>
                <a:spcBef>
                  <a:spcPts val="600"/>
                </a:spcBef>
              </a:pPr>
              <a:r>
                <a:rPr lang="zh-CN" sz="1500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- 左侧列表管理</a:t>
              </a: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- 右侧专注写作</a:t>
              </a: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- 明暗主题切换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43850" y="4305300"/>
              <a:ext cx="2705100" cy="552450"/>
            </a:xfrm>
            <a:prstGeom prst="rect">
              <a:avLst/>
            </a:prstGeom>
            <a:solidFill>
              <a:srgbClr val="DCEFE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80273" y="4529614"/>
              <a:ext cx="17636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已同步 · 更新于 11:28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463414" y="63798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0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33400" y="150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922" y="473392"/>
            <a:ext cx="5129022" cy="826009"/>
            <a:chOff x="518922" y="473392"/>
            <a:chExt cx="5129022" cy="826009"/>
          </a:xfrm>
        </p:grpSpPr>
        <p:sp>
          <p:nvSpPr>
            <p:cNvPr id="5" name="TextBox 5"/>
            <p:cNvSpPr txBox="1"/>
            <p:nvPr/>
          </p:nvSpPr>
          <p:spPr>
            <a:xfrm>
              <a:off x="518922" y="473392"/>
              <a:ext cx="486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产品设计先解决一条主路径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5592" y="103536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用户从记录到再次找到内容，不需要理解复杂的信息组织模型。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6132" y="2059305"/>
            <a:ext cx="9521571" cy="2040446"/>
            <a:chOff x="1056132" y="2059305"/>
            <a:chExt cx="9521571" cy="2040446"/>
          </a:xfrm>
        </p:grpSpPr>
        <p:sp>
          <p:nvSpPr>
            <p:cNvPr id="8" name="Line 8"/>
            <p:cNvSpPr/>
            <p:nvPr/>
          </p:nvSpPr>
          <p:spPr>
            <a:xfrm>
              <a:off x="1562100" y="3048000"/>
              <a:ext cx="8515350" cy="9525"/>
            </a:xfrm>
            <a:custGeom>
              <a:avLst/>
              <a:gdLst/>
              <a:ahLst/>
              <a:cxnLst/>
              <a:rect l="l" t="t" r="r" b="b"/>
              <a:pathLst>
                <a:path w="8515350" h="9525">
                  <a:moveTo>
                    <a:pt x="0" y="0"/>
                  </a:moveTo>
                  <a:lnTo>
                    <a:pt x="8515350" y="0"/>
                  </a:lnTo>
                </a:path>
              </a:pathLst>
            </a:custGeom>
            <a:noFill/>
            <a:ln w="19050">
              <a:solidFill>
                <a:srgbClr val="B8C0B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10039350" y="2971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B8C0B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00150" y="2686050"/>
              <a:ext cx="723900" cy="723900"/>
            </a:xfrm>
            <a:prstGeom prst="ellipse">
              <a:avLst/>
            </a:prstGeom>
            <a:solidFill>
              <a:srgbClr val="DCEFE8"/>
            </a:solidFill>
            <a:ln w="19050">
              <a:solidFill>
                <a:srgbClr val="1F7A6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48181" y="29394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F7A65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962400" y="2686050"/>
              <a:ext cx="723900" cy="723900"/>
            </a:xfrm>
            <a:prstGeom prst="ellipse">
              <a:avLst/>
            </a:prstGeom>
            <a:solidFill>
              <a:srgbClr val="E4EDF8"/>
            </a:solidFill>
            <a:ln w="19050">
              <a:solidFill>
                <a:srgbClr val="2F5F9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10431" y="29394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F5F98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724650" y="2686050"/>
              <a:ext cx="723900" cy="723900"/>
            </a:xfrm>
            <a:prstGeom prst="ellipse">
              <a:avLst/>
            </a:prstGeom>
            <a:solidFill>
              <a:srgbClr val="F8E6DC"/>
            </a:solidFill>
            <a:ln w="19050">
              <a:solidFill>
                <a:srgbClr val="E26A2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2681" y="29394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26A2C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486900" y="2686050"/>
              <a:ext cx="723900" cy="723900"/>
            </a:xfrm>
            <a:prstGeom prst="ellipse">
              <a:avLst/>
            </a:prstGeom>
            <a:solidFill>
              <a:srgbClr val="E7EAE5"/>
            </a:solidFill>
            <a:ln w="19050">
              <a:solidFill>
                <a:srgbClr val="26332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34931" y="29394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6332E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6132" y="20593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捕捉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3569018"/>
              <a:ext cx="12138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新建笔记后立即</a:t>
              </a: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进入可写状态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18382" y="20593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5F98"/>
                  </a:solidFill>
                  <a:latin typeface="Arial"/>
                  <a:ea typeface="Microsoft YaHei"/>
                  <a:cs typeface="Arial"/>
                </a:rPr>
                <a:t>组织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22192" y="3569018"/>
              <a:ext cx="10424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标题来自输入</a:t>
              </a: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也可手动命名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80632" y="20593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26A2C"/>
                  </a:solidFill>
                  <a:latin typeface="Arial"/>
                  <a:ea typeface="Microsoft YaHei"/>
                  <a:cs typeface="Arial"/>
                </a:rPr>
                <a:t>回看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84442" y="3569018"/>
              <a:ext cx="12138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更新时间排序</a:t>
              </a: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搜索标题和正文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2882" y="20593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6332E"/>
                  </a:solidFill>
                  <a:latin typeface="Arial"/>
                  <a:ea typeface="Microsoft YaHei"/>
                  <a:cs typeface="Arial"/>
                </a:rPr>
                <a:t>沉淀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46692" y="3569018"/>
              <a:ext cx="123101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Markdown 预览</a:t>
              </a: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让内容可读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2094" y="4762500"/>
            <a:ext cx="10201656" cy="1423225"/>
            <a:chOff x="752094" y="4762500"/>
            <a:chExt cx="10201656" cy="1423225"/>
          </a:xfrm>
        </p:grpSpPr>
        <p:sp>
          <p:nvSpPr>
            <p:cNvPr id="27" name="Line 27"/>
            <p:cNvSpPr/>
            <p:nvPr/>
          </p:nvSpPr>
          <p:spPr>
            <a:xfrm>
              <a:off x="762000" y="4762500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0" y="0"/>
                  </a:moveTo>
                  <a:lnTo>
                    <a:pt x="1019175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094" y="50853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设计原则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676525" y="5114925"/>
              <a:ext cx="95250" cy="95250"/>
            </a:xfrm>
            <a:prstGeom prst="ellipse">
              <a:avLst/>
            </a:prstGeom>
            <a:solidFill>
              <a:srgbClr val="1F7A6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07792" y="50834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列表、搜索、编辑放在同一个稳定屏幕里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2676525" y="5534025"/>
              <a:ext cx="95250" cy="95250"/>
            </a:xfrm>
            <a:prstGeom prst="ellipse">
              <a:avLst/>
            </a:prstGeom>
            <a:solidFill>
              <a:srgbClr val="2F5F9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07792" y="550259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保存状态显式化，降低用户对数据丢失的担心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2676525" y="5953125"/>
              <a:ext cx="95250" cy="95250"/>
            </a:xfrm>
            <a:prstGeom prst="ellipse">
              <a:avLst/>
            </a:prstGeom>
            <a:solidFill>
              <a:srgbClr val="E26A2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07792" y="592169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功能边界保持小，优先保证启动速度和理解成本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463414" y="63798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0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33400" y="150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922" y="473392"/>
            <a:ext cx="5855970" cy="826009"/>
            <a:chOff x="518922" y="473392"/>
            <a:chExt cx="5855970" cy="826009"/>
          </a:xfrm>
        </p:grpSpPr>
        <p:sp>
          <p:nvSpPr>
            <p:cNvPr id="5" name="TextBox 5"/>
            <p:cNvSpPr txBox="1"/>
            <p:nvPr/>
          </p:nvSpPr>
          <p:spPr>
            <a:xfrm>
              <a:off x="518922" y="473392"/>
              <a:ext cx="40574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界面结构贴近真实产品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5592" y="103536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左侧是信息管理，右侧是内容生产；两个区域的职责和反馈都清楚呈现。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" y="1885950"/>
            <a:ext cx="7334250" cy="3905250"/>
            <a:chOff x="800100" y="1885950"/>
            <a:chExt cx="7334250" cy="3905250"/>
          </a:xfrm>
        </p:grpSpPr>
        <p:sp>
          <p:nvSpPr>
            <p:cNvPr id="8" name="Rectangle 8"/>
            <p:cNvSpPr/>
            <p:nvPr/>
          </p:nvSpPr>
          <p:spPr>
            <a:xfrm>
              <a:off x="800100" y="1885950"/>
              <a:ext cx="7334250" cy="3905250"/>
            </a:xfrm>
            <a:prstGeom prst="roundRect">
              <a:avLst>
                <a:gd name="adj" fmla="val 976"/>
              </a:avLst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885950"/>
              <a:ext cx="7334250" cy="361950"/>
            </a:xfrm>
            <a:prstGeom prst="rect">
              <a:avLst/>
            </a:prstGeom>
            <a:solidFill>
              <a:srgbClr val="E7EAE5"/>
            </a:solidFill>
            <a:ln w="9525">
              <a:solidFill>
                <a:srgbClr val="B8C0B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04888" y="2024062"/>
              <a:ext cx="85725" cy="85725"/>
            </a:xfrm>
            <a:prstGeom prst="ellipse">
              <a:avLst/>
            </a:prstGeom>
            <a:solidFill>
              <a:srgbClr val="E26A2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95388" y="2024062"/>
              <a:ext cx="85725" cy="85725"/>
            </a:xfrm>
            <a:prstGeom prst="ellipse">
              <a:avLst/>
            </a:prstGeom>
            <a:solidFill>
              <a:srgbClr val="D8A64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385888" y="2024062"/>
              <a:ext cx="85725" cy="85725"/>
            </a:xfrm>
            <a:prstGeom prst="ellipse">
              <a:avLst/>
            </a:prstGeom>
            <a:solidFill>
              <a:srgbClr val="1F7A6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0100" y="2247900"/>
              <a:ext cx="2286000" cy="3543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230" y="24669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轻笔记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1088" y="279844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2 条笔记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2447925" y="2466975"/>
              <a:ext cx="323850" cy="323850"/>
            </a:xfrm>
            <a:prstGeom prst="ellipse">
              <a:avLst/>
            </a:prstGeom>
            <a:solidFill>
              <a:srgbClr val="1F7A6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64892" y="25498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85850" y="3181350"/>
              <a:ext cx="1524000" cy="32385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4438" y="32937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搜索标题或内容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85850" y="3752850"/>
              <a:ext cx="1809750" cy="571500"/>
            </a:xfrm>
            <a:prstGeom prst="roundRect">
              <a:avLst>
                <a:gd name="adj" fmla="val 6667"/>
              </a:avLst>
            </a:prstGeom>
            <a:solidFill>
              <a:srgbClr val="DCEFE8"/>
            </a:solidFill>
            <a:ln w="9525">
              <a:solidFill>
                <a:srgbClr val="1F7A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13866" y="3887152"/>
              <a:ext cx="975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0708 学习笔记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14247" y="410479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产品设计、技术架构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85850" y="4457700"/>
              <a:ext cx="1809750" cy="571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13866" y="4592002"/>
              <a:ext cx="975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0707 学习笔记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14247" y="4809649"/>
              <a:ext cx="1305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同步机制、Markdown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85850" y="5314950"/>
              <a:ext cx="438150" cy="228600"/>
            </a:xfrm>
            <a:prstGeom prst="rect">
              <a:avLst/>
            </a:prstGeom>
            <a:solidFill>
              <a:srgbClr val="DCEFE8"/>
            </a:solidFill>
            <a:ln w="9525">
              <a:solidFill>
                <a:srgbClr val="1F7A65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333500" y="5353050"/>
              <a:ext cx="152400" cy="152400"/>
            </a:xfrm>
            <a:prstGeom prst="ellipse">
              <a:avLst/>
            </a:prstGeom>
            <a:solidFill>
              <a:srgbClr val="1F7A6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71447" y="5381149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浅色模式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38525" y="2426494"/>
              <a:ext cx="174176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0708 学习笔记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34050" y="2400300"/>
              <a:ext cx="590550" cy="285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71972" y="2495074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编辑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2400300"/>
              <a:ext cx="590550" cy="285750"/>
            </a:xfrm>
            <a:prstGeom prst="rect">
              <a:avLst/>
            </a:prstGeom>
            <a:solidFill>
              <a:srgbClr val="DCEFE8"/>
            </a:solidFill>
            <a:ln w="9525">
              <a:solidFill>
                <a:srgbClr val="1F7A6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9672" y="2495074"/>
              <a:ext cx="285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预览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029450" y="2400300"/>
              <a:ext cx="609600" cy="285750"/>
            </a:xfrm>
            <a:prstGeom prst="rect">
              <a:avLst/>
            </a:prstGeom>
            <a:solidFill>
              <a:srgbClr val="1F7A6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6897" y="2495074"/>
              <a:ext cx="285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448050" y="3105150"/>
              <a:ext cx="4095750" cy="179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07892" y="3283268"/>
              <a:ext cx="1942529" cy="11212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7A65"/>
                  </a:solidFill>
                  <a:latin typeface="Consolas"/>
                  <a:ea typeface="Microsoft YaHei"/>
                  <a:cs typeface="Consolas"/>
                </a:rPr>
                <a:t># 今日记录</a:t>
              </a:r>
            </a:p>
            <a:p>
              <a:pPr algn="l">
                <a:lnSpc>
                  <a:spcPts val="2100"/>
                </a:lnSpc>
                <a:spcBef>
                  <a:spcPts val="450"/>
                </a:spcBef>
              </a:pPr>
              <a:r>
                <a:rPr lang="zh-CN" sz="1350" dirty="0">
                  <a:solidFill>
                    <a:srgbClr val="1F7A65"/>
                  </a:solidFill>
                  <a:latin typeface="Consolas"/>
                  <a:ea typeface="Microsoft YaHei"/>
                  <a:cs typeface="Consolas"/>
                </a:rPr>
                <a:t>- 先写下想法</a:t>
              </a:r>
            </a:p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7A65"/>
                  </a:solidFill>
                  <a:latin typeface="Consolas"/>
                  <a:ea typeface="Microsoft YaHei"/>
                  <a:cs typeface="Consolas"/>
                </a:rPr>
                <a:t>- 用 Markdown 整理结构</a:t>
              </a:r>
            </a:p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7A65"/>
                  </a:solidFill>
                  <a:latin typeface="Consolas"/>
                  <a:ea typeface="Microsoft YaHei"/>
                  <a:cs typeface="Consolas"/>
                </a:rPr>
                <a:t>- 提交后同步到文件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448050" y="5105400"/>
              <a:ext cx="4095750" cy="400050"/>
            </a:xfrm>
            <a:prstGeom prst="rect">
              <a:avLst/>
            </a:prstGeom>
            <a:solidFill>
              <a:srgbClr val="E7EAE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90366" y="52397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已同步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86297" y="5247799"/>
              <a:ext cx="1204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更新于 07/08 11:28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43800" y="2143125"/>
            <a:ext cx="3379470" cy="3493770"/>
            <a:chOff x="7543800" y="2143125"/>
            <a:chExt cx="3379470" cy="3493770"/>
          </a:xfrm>
        </p:grpSpPr>
        <p:sp>
          <p:nvSpPr>
            <p:cNvPr id="42" name="Line 42"/>
            <p:cNvSpPr/>
            <p:nvPr/>
          </p:nvSpPr>
          <p:spPr>
            <a:xfrm>
              <a:off x="8134350" y="2362200"/>
              <a:ext cx="1028700" cy="495300"/>
            </a:xfrm>
            <a:custGeom>
              <a:avLst/>
              <a:gdLst/>
              <a:ahLst/>
              <a:cxnLst/>
              <a:rect l="l" t="t" r="r" b="b"/>
              <a:pathLst>
                <a:path w="1028700" h="495300">
                  <a:moveTo>
                    <a:pt x="0" y="495300"/>
                  </a:moveTo>
                  <a:lnTo>
                    <a:pt x="1028700" y="0"/>
                  </a:lnTo>
                </a:path>
              </a:pathLst>
            </a:custGeom>
            <a:noFill/>
            <a:ln w="19050">
              <a:solidFill>
                <a:srgbClr val="1F7A65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8991600" y="2352675"/>
              <a:ext cx="171450" cy="142875"/>
            </a:xfrm>
            <a:custGeom>
              <a:avLst/>
              <a:gdLst/>
              <a:ahLst/>
              <a:cxnLst/>
              <a:rect l="l" t="t" r="r" b="b"/>
              <a:pathLst>
                <a:path w="171450" h="142875">
                  <a:moveTo>
                    <a:pt x="171450" y="9525"/>
                  </a:moveTo>
                  <a:lnTo>
                    <a:pt x="0" y="0"/>
                  </a:lnTo>
                  <a:lnTo>
                    <a:pt x="66675" y="142875"/>
                  </a:lnTo>
                  <a:close/>
                </a:path>
              </a:pathLst>
            </a:custGeom>
            <a:solidFill>
              <a:srgbClr val="1F7A6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07830" y="2143125"/>
              <a:ext cx="16154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列表区负责选择、</a:t>
              </a:r>
              <a:r>
                <a:rPr lang="zh-CN" sz="150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搜索和删除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134350" y="37719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9050">
              <a:solidFill>
                <a:srgbClr val="2F5F98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9010650" y="36957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2F5F9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07830" y="3476625"/>
              <a:ext cx="16154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2F5F98"/>
                  </a:solidFill>
                  <a:latin typeface="Arial"/>
                  <a:ea typeface="Microsoft YaHei"/>
                  <a:cs typeface="Arial"/>
                </a:rPr>
                <a:t>编辑和预览在同一</a:t>
              </a:r>
              <a:r>
                <a:rPr lang="zh-CN" sz="1500" b="1" dirty="0">
                  <a:solidFill>
                    <a:srgbClr val="2F5F98"/>
                  </a:solidFill>
                  <a:latin typeface="Arial"/>
                  <a:ea typeface="Microsoft YaHei"/>
                  <a:cs typeface="Arial"/>
                </a:rPr>
                <a:t>工作面切换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543800" y="531495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E26A2C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9010650" y="52387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26A2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07830" y="5076825"/>
              <a:ext cx="16154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E26A2C"/>
                  </a:solidFill>
                  <a:latin typeface="Arial"/>
                  <a:ea typeface="Microsoft YaHei"/>
                  <a:cs typeface="Arial"/>
                </a:rPr>
                <a:t>底部反馈同步状态</a:t>
              </a:r>
              <a:r>
                <a:rPr lang="zh-CN" sz="1500" b="1" dirty="0">
                  <a:solidFill>
                    <a:srgbClr val="E26A2C"/>
                  </a:solidFill>
                  <a:latin typeface="Arial"/>
                  <a:ea typeface="Microsoft YaHei"/>
                  <a:cs typeface="Arial"/>
                </a:rPr>
                <a:t>和更新时间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463414" y="63798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0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33400" y="150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922" y="473392"/>
            <a:ext cx="8589241" cy="826009"/>
            <a:chOff x="518922" y="473392"/>
            <a:chExt cx="8589241" cy="826009"/>
          </a:xfrm>
        </p:grpSpPr>
        <p:sp>
          <p:nvSpPr>
            <p:cNvPr id="5" name="TextBox 5"/>
            <p:cNvSpPr txBox="1"/>
            <p:nvPr/>
          </p:nvSpPr>
          <p:spPr>
            <a:xfrm>
              <a:off x="518922" y="473392"/>
              <a:ext cx="858924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Markdown 体验由输入高亮和安全渲染共同支撑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5592" y="1035368"/>
              <a:ext cx="5966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当前实现覆盖常用写作结构，并对 HTML 做转义，适合轻量记录场景。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0100" y="2400300"/>
            <a:ext cx="9067800" cy="1181100"/>
            <a:chOff x="800100" y="2400300"/>
            <a:chExt cx="9067800" cy="1181100"/>
          </a:xfrm>
        </p:grpSpPr>
        <p:sp>
          <p:nvSpPr>
            <p:cNvPr id="8" name="Line 8"/>
            <p:cNvSpPr/>
            <p:nvPr/>
          </p:nvSpPr>
          <p:spPr>
            <a:xfrm>
              <a:off x="2419350" y="297180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19050">
              <a:solidFill>
                <a:srgbClr val="B8C0B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9601200" y="2895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B8C0B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00100" y="2400300"/>
              <a:ext cx="1657350" cy="1181100"/>
            </a:xfrm>
            <a:prstGeom prst="rect">
              <a:avLst/>
            </a:prstGeom>
            <a:solidFill>
              <a:srgbClr val="DCEFE8"/>
            </a:solidFill>
            <a:ln w="9525">
              <a:solidFill>
                <a:srgbClr val="1F7A6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9180" y="2619375"/>
              <a:ext cx="1435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textarea 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5004" y="3051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原始内容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105150" y="2400300"/>
              <a:ext cx="1809750" cy="1181100"/>
            </a:xfrm>
            <a:prstGeom prst="rect">
              <a:avLst/>
            </a:prstGeom>
            <a:solidFill>
              <a:srgbClr val="E4EDF8"/>
            </a:solidFill>
            <a:ln w="9525">
              <a:solidFill>
                <a:srgbClr val="2F5F9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45180" y="2619375"/>
              <a:ext cx="1929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5F98"/>
                  </a:solidFill>
                  <a:latin typeface="Arial"/>
                  <a:ea typeface="Arial"/>
                  <a:cs typeface="Arial"/>
                </a:rPr>
                <a:t>highlightMarkdown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8154" y="30518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编辑态语法高亮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657850" y="2400300"/>
              <a:ext cx="1809750" cy="1181100"/>
            </a:xfrm>
            <a:prstGeom prst="rect">
              <a:avLst/>
            </a:prstGeom>
            <a:solidFill>
              <a:srgbClr val="F8E6DC"/>
            </a:solidFill>
            <a:ln w="9525">
              <a:solidFill>
                <a:srgbClr val="E26A2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5030" y="2619375"/>
              <a:ext cx="1739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26A2C"/>
                  </a:solidFill>
                  <a:latin typeface="Arial"/>
                  <a:ea typeface="Arial"/>
                  <a:cs typeface="Arial"/>
                </a:rPr>
                <a:t>renderMarkdown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85154" y="3051810"/>
              <a:ext cx="985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预览态 HTML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2400300"/>
              <a:ext cx="1657350" cy="1181100"/>
            </a:xfrm>
            <a:prstGeom prst="rect">
              <a:avLst/>
            </a:prstGeom>
            <a:solidFill>
              <a:srgbClr val="E7EAE5"/>
            </a:solidFill>
            <a:ln w="9525">
              <a:solidFill>
                <a:srgbClr val="26332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64880" y="2619375"/>
              <a:ext cx="1177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6332E"/>
                  </a:solidFill>
                  <a:latin typeface="Arial"/>
                  <a:ea typeface="Arial"/>
                  <a:cs typeface="Arial"/>
                </a:rPr>
                <a:t>escapeHtml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66404" y="3051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脚本注入防护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5350" y="4419600"/>
            <a:ext cx="4476750" cy="1123950"/>
            <a:chOff x="895350" y="4419600"/>
            <a:chExt cx="4476750" cy="1123950"/>
          </a:xfrm>
        </p:grpSpPr>
        <p:sp>
          <p:nvSpPr>
            <p:cNvPr id="23" name="Rectangle 23"/>
            <p:cNvSpPr/>
            <p:nvPr/>
          </p:nvSpPr>
          <p:spPr>
            <a:xfrm>
              <a:off x="895350" y="4419600"/>
              <a:ext cx="4476750" cy="1123950"/>
            </a:xfrm>
            <a:prstGeom prst="rect">
              <a:avLst/>
            </a:prstGeom>
            <a:solidFill>
              <a:srgbClr val="F7F8F5"/>
            </a:solidFill>
            <a:ln w="9525">
              <a:solidFill>
                <a:srgbClr val="B8C0B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5568" y="46796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支持的语法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092" y="5131118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标题 列表 引用 行内代码 粗体 斜体 链接 代码块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10300" y="4419600"/>
            <a:ext cx="4476750" cy="1185101"/>
            <a:chOff x="6210300" y="4419600"/>
            <a:chExt cx="4476750" cy="1185101"/>
          </a:xfrm>
        </p:grpSpPr>
        <p:sp>
          <p:nvSpPr>
            <p:cNvPr id="27" name="Rectangle 27"/>
            <p:cNvSpPr/>
            <p:nvPr/>
          </p:nvSpPr>
          <p:spPr>
            <a:xfrm>
              <a:off x="6210300" y="4419600"/>
              <a:ext cx="4476750" cy="1123950"/>
            </a:xfrm>
            <a:prstGeom prst="rect">
              <a:avLst/>
            </a:prstGeom>
            <a:solidFill>
              <a:srgbClr val="F7F8F5"/>
            </a:solidFill>
            <a:ln w="9525">
              <a:solidFill>
                <a:srgbClr val="B8C0B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30518" y="4679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产品含义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2042" y="5073968"/>
              <a:ext cx="37856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用较低复杂度换取足够好的学习和会议记录体验，</a:t>
              </a:r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后续可替换为成熟解析器。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63414" y="63798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33400" y="150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922" y="473392"/>
            <a:ext cx="7280262" cy="826009"/>
            <a:chOff x="518922" y="473392"/>
            <a:chExt cx="7280262" cy="826009"/>
          </a:xfrm>
        </p:grpSpPr>
        <p:sp>
          <p:nvSpPr>
            <p:cNvPr id="5" name="TextBox 5"/>
            <p:cNvSpPr txBox="1"/>
            <p:nvPr/>
          </p:nvSpPr>
          <p:spPr>
            <a:xfrm>
              <a:off x="518922" y="473392"/>
              <a:ext cx="72802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技术架构把业务核心从运行环境中抽出来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5592" y="1035368"/>
              <a:ext cx="6595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NotesCore 同时服务浏览器、Node 服务和测试，让轻量应用也有可验证的边界。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9150" y="1885950"/>
            <a:ext cx="9810750" cy="3733800"/>
            <a:chOff x="819150" y="1885950"/>
            <a:chExt cx="9810750" cy="3733800"/>
          </a:xfrm>
        </p:grpSpPr>
        <p:sp>
          <p:nvSpPr>
            <p:cNvPr id="8" name="Rectangle 8"/>
            <p:cNvSpPr/>
            <p:nvPr/>
          </p:nvSpPr>
          <p:spPr>
            <a:xfrm>
              <a:off x="819150" y="1885950"/>
              <a:ext cx="1714500" cy="704850"/>
            </a:xfrm>
            <a:prstGeom prst="rect">
              <a:avLst/>
            </a:prstGeom>
            <a:solidFill>
              <a:srgbClr val="2633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9868" y="21459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交互层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533650" y="1885950"/>
              <a:ext cx="8096250" cy="704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887218" y="2126932"/>
              <a:ext cx="41943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DOM 事件 · 搜索 · 模式切换 · 主题开关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95600"/>
              <a:ext cx="1714500" cy="704850"/>
            </a:xfrm>
            <a:prstGeom prst="rect">
              <a:avLst/>
            </a:prstGeom>
            <a:solidFill>
              <a:srgbClr val="26332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4618" y="3155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业务核心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33650" y="2895600"/>
              <a:ext cx="8096250" cy="704850"/>
            </a:xfrm>
            <a:prstGeom prst="rect">
              <a:avLst/>
            </a:prstGeom>
            <a:solidFill>
              <a:srgbClr val="DCEFE8"/>
            </a:solidFill>
            <a:ln w="9525">
              <a:solidFill>
                <a:srgbClr val="1F7A6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87218" y="3136582"/>
              <a:ext cx="64659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7A65"/>
                  </a:solidFill>
                  <a:latin typeface="Arial"/>
                  <a:ea typeface="Arial"/>
                  <a:cs typeface="Arial"/>
                </a:rPr>
                <a:t>NotesCore · NoteApp · normalize / sort / filter / render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3905250"/>
              <a:ext cx="1714500" cy="704850"/>
            </a:xfrm>
            <a:prstGeom prst="rect">
              <a:avLst/>
            </a:prstGeom>
            <a:solidFill>
              <a:srgbClr val="26332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4618" y="41652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存储抽象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33650" y="3905250"/>
              <a:ext cx="8096250" cy="704850"/>
            </a:xfrm>
            <a:prstGeom prst="rect">
              <a:avLst/>
            </a:prstGeom>
            <a:solidFill>
              <a:srgbClr val="E4EDF8"/>
            </a:solidFill>
            <a:ln w="9525">
              <a:solidFill>
                <a:srgbClr val="2F5F9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87218" y="4146232"/>
              <a:ext cx="40131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LocalStore · RemoteStore · 失败回退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19150" y="4914900"/>
              <a:ext cx="1714500" cy="704850"/>
            </a:xfrm>
            <a:prstGeom prst="rect">
              <a:avLst/>
            </a:prstGeom>
            <a:solidFill>
              <a:srgbClr val="2633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29868" y="5174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服务层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533650" y="4914900"/>
              <a:ext cx="8096250" cy="704850"/>
            </a:xfrm>
            <a:prstGeom prst="rect">
              <a:avLst/>
            </a:prstGeom>
            <a:solidFill>
              <a:srgbClr val="F8E6DC"/>
            </a:solidFill>
            <a:ln w="9525">
              <a:solidFill>
                <a:srgbClr val="E26A2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87218" y="5155882"/>
              <a:ext cx="67895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Node http · 静态文件 · GET / PUT /api/notes · notes-data.json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72250" y="2590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rgbClr val="B8C0B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496050" y="2743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C0B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572250" y="36004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rgbClr val="B8C0B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496050" y="37528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C0BA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6572250" y="46101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rgbClr val="B8C0B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6496050" y="47625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C0BA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0401262" y="2895600"/>
            <a:ext cx="1454734" cy="1714500"/>
            <a:chOff x="10401262" y="2895600"/>
            <a:chExt cx="1454734" cy="1714500"/>
          </a:xfrm>
        </p:grpSpPr>
        <p:sp>
          <p:nvSpPr>
            <p:cNvPr id="31" name="Rectangle 31"/>
            <p:cNvSpPr/>
            <p:nvPr/>
          </p:nvSpPr>
          <p:spPr>
            <a:xfrm>
              <a:off x="10839450" y="2895600"/>
              <a:ext cx="4191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F7A6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 rot="5400000">
              <a:off x="10401262" y="3891858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测试共用同一核心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0629900" y="32385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rgbClr val="1F7A65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0629900" y="42481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rgbClr val="1F7A65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1463414" y="63798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0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33400" y="150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922" y="473392"/>
            <a:ext cx="9697364" cy="826009"/>
            <a:chOff x="518922" y="473392"/>
            <a:chExt cx="9697364" cy="826009"/>
          </a:xfrm>
        </p:grpSpPr>
        <p:sp>
          <p:nvSpPr>
            <p:cNvPr id="5" name="TextBox 5"/>
            <p:cNvSpPr txBox="1"/>
            <p:nvPr/>
          </p:nvSpPr>
          <p:spPr>
            <a:xfrm>
              <a:off x="518922" y="473392"/>
              <a:ext cx="96973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同步不是协作编辑，而是一套可恢复的单文件同步机制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5592" y="1035368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它通过防抖保存、轮询刷新和编辑保护降低数据丢失概率，但还没有冲突合并。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57250" y="2228850"/>
            <a:ext cx="10325100" cy="1619250"/>
            <a:chOff x="857250" y="2228850"/>
            <a:chExt cx="10325100" cy="1619250"/>
          </a:xfrm>
        </p:grpSpPr>
        <p:sp>
          <p:nvSpPr>
            <p:cNvPr id="8" name="Line 8"/>
            <p:cNvSpPr/>
            <p:nvPr/>
          </p:nvSpPr>
          <p:spPr>
            <a:xfrm>
              <a:off x="2324100" y="297180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9050">
              <a:solidFill>
                <a:srgbClr val="1F7A65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990850" y="2895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F7A65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610100" y="297180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9050">
              <a:solidFill>
                <a:srgbClr val="E26A2C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5276850" y="2895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26A2C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6896100" y="297180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9050">
              <a:solidFill>
                <a:srgbClr val="2F5F98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7562850" y="2895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2F5F98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1790700" y="37719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69532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8C0BA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790700" y="36957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lnTo>
                    <a:pt x="152400" y="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B8C0B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7250" y="2362200"/>
              <a:ext cx="1466850" cy="1219200"/>
            </a:xfrm>
            <a:prstGeom prst="rect">
              <a:avLst/>
            </a:prstGeom>
            <a:solidFill>
              <a:srgbClr val="E7EAE5"/>
            </a:solidFill>
            <a:ln w="9525">
              <a:solidFill>
                <a:srgbClr val="26332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67206" y="2586990"/>
              <a:ext cx="4569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6332E"/>
                  </a:solidFill>
                  <a:latin typeface="Arial"/>
                  <a:ea typeface="Arial"/>
                  <a:cs typeface="Arial"/>
                </a:rPr>
                <a:t>Idle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94054" y="3051810"/>
              <a:ext cx="621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已同步</a:t>
              </a:r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等待输入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143250" y="2362200"/>
              <a:ext cx="1466850" cy="1219200"/>
            </a:xfrm>
            <a:prstGeom prst="rect">
              <a:avLst/>
            </a:prstGeom>
            <a:solidFill>
              <a:srgbClr val="DCEFE8"/>
            </a:solidFill>
            <a:ln w="9525">
              <a:solidFill>
                <a:srgbClr val="1F7A6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91306" y="2586990"/>
              <a:ext cx="661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F7A65"/>
                  </a:solidFill>
                  <a:latin typeface="Arial"/>
                  <a:ea typeface="Arial"/>
                  <a:cs typeface="Arial"/>
                </a:rPr>
                <a:t>Dirty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80054" y="3051810"/>
              <a:ext cx="8122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输入变更</a:t>
              </a:r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180ms 防抖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429250" y="2362200"/>
              <a:ext cx="1466850" cy="1219200"/>
            </a:xfrm>
            <a:prstGeom prst="rect">
              <a:avLst/>
            </a:prstGeom>
            <a:solidFill>
              <a:srgbClr val="F8E6DC"/>
            </a:solidFill>
            <a:ln w="9525">
              <a:solidFill>
                <a:srgbClr val="E26A2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39206" y="2586990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26A2C"/>
                  </a:solidFill>
                  <a:latin typeface="Arial"/>
                  <a:ea typeface="Arial"/>
                  <a:cs typeface="Arial"/>
                </a:rPr>
                <a:t>Saving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85104" y="3051810"/>
              <a:ext cx="11094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17201C"/>
                  </a:solidFill>
                  <a:latin typeface="Arial"/>
                  <a:ea typeface="Arial"/>
                  <a:cs typeface="Arial"/>
                </a:rPr>
                <a:t>PUT /api/notes</a:t>
              </a:r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写入 JSON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715250" y="2362200"/>
              <a:ext cx="1466850" cy="1219200"/>
            </a:xfrm>
            <a:prstGeom prst="rect">
              <a:avLst/>
            </a:prstGeom>
            <a:solidFill>
              <a:srgbClr val="E4EDF8"/>
            </a:solidFill>
            <a:ln w="9525">
              <a:solidFill>
                <a:srgbClr val="2F5F9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91856" y="25869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F5F98"/>
                  </a:solidFill>
                  <a:latin typeface="Arial"/>
                  <a:ea typeface="Arial"/>
                  <a:cs typeface="Arial"/>
                </a:rPr>
                <a:t>Refresh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71104" y="3051810"/>
              <a:ext cx="926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2.5s 轮询</a:t>
              </a:r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非编辑时拉取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677400" y="2228850"/>
              <a:ext cx="1504950" cy="1485900"/>
            </a:xfrm>
            <a:prstGeom prst="rect">
              <a:avLst/>
            </a:prstGeom>
            <a:solidFill>
              <a:srgbClr val="F7F8F5"/>
            </a:solidFill>
            <a:ln w="9525">
              <a:solidFill>
                <a:srgbClr val="B8C0B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92106" y="2396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6A2C"/>
                  </a:solidFill>
                  <a:latin typeface="Arial"/>
                  <a:ea typeface="Microsoft YaHei"/>
                  <a:cs typeface="Arial"/>
                </a:rPr>
                <a:t>失败路径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19335" y="2907506"/>
              <a:ext cx="1211580" cy="848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远端读取失败</a:t>
              </a:r>
              <a:r>
                <a:rPr lang="zh-CN" sz="112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回退 localStorage</a:t>
              </a:r>
              <a:r>
                <a:rPr lang="zh-CN" sz="112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远端写入失败</a:t>
              </a:r>
              <a:r>
                <a:rPr lang="zh-CN" sz="112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保留当前状态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23950" y="4953000"/>
            <a:ext cx="9505950" cy="704850"/>
            <a:chOff x="1123950" y="4953000"/>
            <a:chExt cx="9505950" cy="704850"/>
          </a:xfrm>
        </p:grpSpPr>
        <p:sp>
          <p:nvSpPr>
            <p:cNvPr id="32" name="Rectangle 32"/>
            <p:cNvSpPr/>
            <p:nvPr/>
          </p:nvSpPr>
          <p:spPr>
            <a:xfrm>
              <a:off x="1123950" y="4953000"/>
              <a:ext cx="9505950" cy="704850"/>
            </a:xfrm>
            <a:prstGeom prst="rect">
              <a:avLst/>
            </a:prstGeom>
            <a:solidFill>
              <a:srgbClr val="E7EAE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82268" y="5213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边界条件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79192" y="5226368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正在编辑时跳过刷新，避免远端轮询覆盖用户输入；多浏览器同时编辑仍需要冲突提示。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463414" y="63798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0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33400" y="150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922" y="473392"/>
            <a:ext cx="8085963" cy="826009"/>
            <a:chOff x="518922" y="473392"/>
            <a:chExt cx="8085963" cy="826009"/>
          </a:xfrm>
        </p:grpSpPr>
        <p:sp>
          <p:nvSpPr>
            <p:cNvPr id="5" name="TextBox 5"/>
            <p:cNvSpPr txBox="1"/>
            <p:nvPr/>
          </p:nvSpPr>
          <p:spPr>
            <a:xfrm>
              <a:off x="518922" y="473392"/>
              <a:ext cx="80859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数据契约很小，但已经形成前后端一致的约束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5592" y="1035368"/>
              <a:ext cx="6582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笔记数组是唯一业务数据，服务端和前端都通过 normalizeNotes 保持结构可靠。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04850" y="2019300"/>
            <a:ext cx="3695700" cy="3200400"/>
            <a:chOff x="704850" y="2019300"/>
            <a:chExt cx="3695700" cy="3200400"/>
          </a:xfrm>
        </p:grpSpPr>
        <p:sp>
          <p:nvSpPr>
            <p:cNvPr id="8" name="Rectangle 8"/>
            <p:cNvSpPr/>
            <p:nvPr/>
          </p:nvSpPr>
          <p:spPr>
            <a:xfrm>
              <a:off x="704850" y="2019300"/>
              <a:ext cx="3695700" cy="3200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0313" y="2372201"/>
              <a:ext cx="132686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Note 对象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90600" y="28765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4123" y="3043714"/>
              <a:ext cx="166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7A65"/>
                  </a:solidFill>
                  <a:latin typeface="Consolas"/>
                  <a:ea typeface="Consolas"/>
                  <a:cs typeface="Consolas"/>
                </a:rPr>
                <a:t>id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0804" y="305181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F5F98"/>
                  </a:solidFill>
                  <a:latin typeface="Consolas"/>
                  <a:ea typeface="Consolas"/>
                  <a:cs typeface="Consolas"/>
                </a:rPr>
                <a:t>string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3304" y="3051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唯一标识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90600" y="33337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123" y="3500914"/>
              <a:ext cx="418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7A65"/>
                  </a:solidFill>
                  <a:latin typeface="Consolas"/>
                  <a:ea typeface="Consolas"/>
                  <a:cs typeface="Consolas"/>
                </a:rPr>
                <a:t>title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60804" y="350901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F5F98"/>
                  </a:solidFill>
                  <a:latin typeface="Consolas"/>
                  <a:ea typeface="Consolas"/>
                  <a:cs typeface="Consolas"/>
                </a:rPr>
                <a:t>string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13304" y="3509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标题或默认标题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90600" y="37909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4123" y="3958114"/>
              <a:ext cx="706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7A65"/>
                  </a:solidFill>
                  <a:latin typeface="Consolas"/>
                  <a:ea typeface="Consolas"/>
                  <a:cs typeface="Consolas"/>
                </a:rPr>
                <a:t>content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60804" y="396621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F5F98"/>
                  </a:solidFill>
                  <a:latin typeface="Consolas"/>
                  <a:ea typeface="Consolas"/>
                  <a:cs typeface="Consolas"/>
                </a:rPr>
                <a:t>string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13304" y="3966210"/>
              <a:ext cx="11672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Markdown 文本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90600" y="42481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4123" y="4415314"/>
              <a:ext cx="910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7A65"/>
                  </a:solidFill>
                  <a:latin typeface="Consolas"/>
                  <a:ea typeface="Consolas"/>
                  <a:cs typeface="Consolas"/>
                </a:rPr>
                <a:t>createdAt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60804" y="4423410"/>
              <a:ext cx="682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F5F98"/>
                  </a:solidFill>
                  <a:latin typeface="Consolas"/>
                  <a:ea typeface="Consolas"/>
                  <a:cs typeface="Consolas"/>
                </a:rPr>
                <a:t>ISO time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13304" y="4423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创建时间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990600" y="47053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123" y="4872514"/>
              <a:ext cx="910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7A65"/>
                  </a:solidFill>
                  <a:latin typeface="Consolas"/>
                  <a:ea typeface="Consolas"/>
                  <a:cs typeface="Consolas"/>
                </a:rPr>
                <a:t>updatedAt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60804" y="4880610"/>
              <a:ext cx="682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F5F98"/>
                  </a:solidFill>
                  <a:latin typeface="Consolas"/>
                  <a:ea typeface="Consolas"/>
                  <a:cs typeface="Consolas"/>
                </a:rPr>
                <a:t>ISO time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13304" y="48806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排序与同步显示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048250" y="2019300"/>
            <a:ext cx="3623939" cy="3216878"/>
            <a:chOff x="5048250" y="2019300"/>
            <a:chExt cx="3623939" cy="3216878"/>
          </a:xfrm>
        </p:grpSpPr>
        <p:sp>
          <p:nvSpPr>
            <p:cNvPr id="31" name="Rectangle 31"/>
            <p:cNvSpPr/>
            <p:nvPr/>
          </p:nvSpPr>
          <p:spPr>
            <a:xfrm>
              <a:off x="5048250" y="2019300"/>
              <a:ext cx="2781300" cy="1409700"/>
            </a:xfrm>
            <a:prstGeom prst="rect">
              <a:avLst/>
            </a:prstGeom>
            <a:solidFill>
              <a:srgbClr val="DCEFE8"/>
            </a:solidFill>
            <a:ln w="9525">
              <a:solidFill>
                <a:srgbClr val="1F7A6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43525" y="2426494"/>
              <a:ext cx="195674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1F7A65"/>
                  </a:solidFill>
                  <a:latin typeface="Arial"/>
                  <a:ea typeface="Arial"/>
                  <a:cs typeface="Arial"/>
                </a:rPr>
                <a:t>GET /api/notes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46573" y="2948464"/>
              <a:ext cx="332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读取 notes-data.json，失败返回空数组。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48250" y="3810000"/>
              <a:ext cx="2781300" cy="1409700"/>
            </a:xfrm>
            <a:prstGeom prst="rect">
              <a:avLst/>
            </a:prstGeom>
            <a:solidFill>
              <a:srgbClr val="F8E6DC"/>
            </a:solidFill>
            <a:ln w="9525">
              <a:solidFill>
                <a:srgbClr val="E26A2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343525" y="4217194"/>
              <a:ext cx="195674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E26A2C"/>
                  </a:solidFill>
                  <a:latin typeface="Arial"/>
                  <a:ea typeface="Arial"/>
                  <a:cs typeface="Arial"/>
                </a:rPr>
                <a:t>PUT /api/notes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6573" y="4739164"/>
              <a:ext cx="1866995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限制 1MB 请求体，解析后</a:t>
              </a:r>
              <a:r>
                <a:rPr lang="zh-CN" sz="12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统一规范化并写回。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477250" y="2019300"/>
            <a:ext cx="2544775" cy="3200400"/>
            <a:chOff x="8477250" y="2019300"/>
            <a:chExt cx="2544775" cy="3200400"/>
          </a:xfrm>
        </p:grpSpPr>
        <p:sp>
          <p:nvSpPr>
            <p:cNvPr id="38" name="Rectangle 38"/>
            <p:cNvSpPr/>
            <p:nvPr/>
          </p:nvSpPr>
          <p:spPr>
            <a:xfrm>
              <a:off x="8477250" y="2019300"/>
              <a:ext cx="2514600" cy="3200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0B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71763" y="2372201"/>
              <a:ext cx="173798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安全与可靠性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791575" y="2962275"/>
              <a:ext cx="95250" cy="95250"/>
            </a:xfrm>
            <a:prstGeom prst="ellipse">
              <a:avLst/>
            </a:prstGeom>
            <a:solidFill>
              <a:srgbClr val="1F7A6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23223" y="2938939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路径解析阻止目录穿越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8791575" y="3419475"/>
              <a:ext cx="95250" cy="95250"/>
            </a:xfrm>
            <a:prstGeom prst="ellipse">
              <a:avLst/>
            </a:prstGeom>
            <a:solidFill>
              <a:srgbClr val="2F5F9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23223" y="3396139"/>
              <a:ext cx="1998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HTML 转义降低 XSS 风险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8791575" y="3876675"/>
              <a:ext cx="95250" cy="95250"/>
            </a:xfrm>
            <a:prstGeom prst="ellipse">
              <a:avLst/>
            </a:prstGeom>
            <a:solidFill>
              <a:srgbClr val="E26A2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23223" y="3853339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当前仍缺少原子写入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791575" y="4333875"/>
              <a:ext cx="95250" cy="95250"/>
            </a:xfrm>
            <a:prstGeom prst="ellipse">
              <a:avLst/>
            </a:prstGeom>
            <a:solidFill>
              <a:srgbClr val="E26A2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23223" y="4310539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当前仍缺少冲突版本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463414" y="63798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0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33400" y="150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8C0BA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922" y="473392"/>
            <a:ext cx="7683113" cy="826009"/>
            <a:chOff x="518922" y="473392"/>
            <a:chExt cx="7683113" cy="826009"/>
          </a:xfrm>
        </p:grpSpPr>
        <p:sp>
          <p:nvSpPr>
            <p:cNvPr id="5" name="TextBox 5"/>
            <p:cNvSpPr txBox="1"/>
            <p:nvPr/>
          </p:nvSpPr>
          <p:spPr>
            <a:xfrm>
              <a:off x="518922" y="473392"/>
              <a:ext cx="768311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下一步围绕可靠性和专业写作体验继续打磨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5592" y="10353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06B"/>
                  </a:solidFill>
                  <a:latin typeface="Arial"/>
                  <a:ea typeface="Microsoft YaHei"/>
                  <a:cs typeface="Arial"/>
                </a:rPr>
                <a:t>当前系统已有测试基础，演进方向应优先保护用户数据，再提升编辑效率。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" y="2171700"/>
            <a:ext cx="10382250" cy="2571750"/>
            <a:chOff x="800100" y="2171700"/>
            <a:chExt cx="10382250" cy="2571750"/>
          </a:xfrm>
        </p:grpSpPr>
        <p:sp>
          <p:nvSpPr>
            <p:cNvPr id="8" name="Rectangle 8"/>
            <p:cNvSpPr/>
            <p:nvPr/>
          </p:nvSpPr>
          <p:spPr>
            <a:xfrm>
              <a:off x="800100" y="2171700"/>
              <a:ext cx="2095500" cy="2571750"/>
            </a:xfrm>
            <a:prstGeom prst="rect">
              <a:avLst/>
            </a:prstGeom>
            <a:solidFill>
              <a:srgbClr val="F8E6D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175" y="2597944"/>
              <a:ext cx="10791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26A2C"/>
                  </a:solidFill>
                  <a:latin typeface="Arial"/>
                  <a:ea typeface="Microsoft YaHei"/>
                  <a:cs typeface="Arial"/>
                </a:rPr>
                <a:t>立即修复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699" y="3182779"/>
              <a:ext cx="1216152" cy="9557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统一中文编码</a:t>
              </a: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清理乱码文案</a:t>
              </a: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补充错误提示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28700" y="4343400"/>
              <a:ext cx="514350" cy="47625"/>
            </a:xfrm>
            <a:prstGeom prst="rect">
              <a:avLst/>
            </a:prstGeom>
            <a:solidFill>
              <a:srgbClr val="E26A2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62350" y="2171700"/>
              <a:ext cx="2095500" cy="2571750"/>
            </a:xfrm>
            <a:prstGeom prst="rect">
              <a:avLst/>
            </a:prstGeom>
            <a:solidFill>
              <a:srgbClr val="E7EAE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81425" y="2597944"/>
              <a:ext cx="10791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26A2C"/>
                  </a:solidFill>
                  <a:latin typeface="Arial"/>
                  <a:ea typeface="Microsoft YaHei"/>
                  <a:cs typeface="Arial"/>
                </a:rPr>
                <a:t>短期增强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2949" y="3182779"/>
              <a:ext cx="1356170" cy="9557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原子写入 JSON</a:t>
              </a: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导入导出</a:t>
              </a: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自动备份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790950" y="4343400"/>
              <a:ext cx="514350" cy="47625"/>
            </a:xfrm>
            <a:prstGeom prst="rect">
              <a:avLst/>
            </a:prstGeom>
            <a:solidFill>
              <a:srgbClr val="E26A2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324600" y="2171700"/>
              <a:ext cx="2095500" cy="2571750"/>
            </a:xfrm>
            <a:prstGeom prst="rect">
              <a:avLst/>
            </a:prstGeom>
            <a:solidFill>
              <a:srgbClr val="E4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43675" y="2597944"/>
              <a:ext cx="10791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2F5F98"/>
                  </a:solidFill>
                  <a:latin typeface="Arial"/>
                  <a:ea typeface="Microsoft YaHei"/>
                  <a:cs typeface="Arial"/>
                </a:rPr>
                <a:t>中期能力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5199" y="3182779"/>
              <a:ext cx="816102" cy="9557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冲突提示</a:t>
              </a: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版本历史</a:t>
              </a: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全文索引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4343400"/>
              <a:ext cx="514350" cy="47625"/>
            </a:xfrm>
            <a:prstGeom prst="rect">
              <a:avLst/>
            </a:prstGeom>
            <a:solidFill>
              <a:srgbClr val="2F5F9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86850" y="2171700"/>
              <a:ext cx="2095500" cy="2571750"/>
            </a:xfrm>
            <a:prstGeom prst="rect">
              <a:avLst/>
            </a:prstGeom>
            <a:solidFill>
              <a:srgbClr val="DCEF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05925" y="2597944"/>
              <a:ext cx="10791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F7A65"/>
                  </a:solidFill>
                  <a:latin typeface="Arial"/>
                  <a:ea typeface="Microsoft YaHei"/>
                  <a:cs typeface="Arial"/>
                </a:rPr>
                <a:t>长期方向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07449" y="3182779"/>
              <a:ext cx="1216152" cy="9557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账号与权限</a:t>
              </a: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多端同步</a:t>
              </a:r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插件化解析器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315450" y="4343400"/>
              <a:ext cx="514350" cy="47625"/>
            </a:xfrm>
            <a:prstGeom prst="rect">
              <a:avLst/>
            </a:prstGeom>
            <a:solidFill>
              <a:srgbClr val="1F7A65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09625" y="5417344"/>
            <a:ext cx="8712327" cy="366712"/>
            <a:chOff x="809625" y="5417344"/>
            <a:chExt cx="8712327" cy="366712"/>
          </a:xfrm>
        </p:grpSpPr>
        <p:sp>
          <p:nvSpPr>
            <p:cNvPr id="25" name="TextBox 25"/>
            <p:cNvSpPr txBox="1"/>
            <p:nvPr/>
          </p:nvSpPr>
          <p:spPr>
            <a:xfrm>
              <a:off x="809625" y="5417344"/>
              <a:ext cx="10791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判断标准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97049" y="5468779"/>
              <a:ext cx="72249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7201C"/>
                  </a:solidFill>
                  <a:latin typeface="Arial"/>
                  <a:ea typeface="Microsoft YaHei"/>
                  <a:cs typeface="Arial"/>
                </a:rPr>
                <a:t>每一次增强都应该继续保持轻笔记的核心：打开快、写起来轻、数据可找回。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63414" y="63798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0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2026-07-08T06:06:37Z</dcterms:created>
  <dcterms:modified xsi:type="dcterms:W3CDTF">2026-07-08T06:06:37Z</dcterms:modified>
  <cp:category/>
  <cp:contentStatus/>
</cp:coreProperties>
</file>