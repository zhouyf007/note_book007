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c08e81f50e149d4" /><Relationship Type="http://schemas.openxmlformats.org/officeDocument/2006/relationships/extended-properties" Target="/docProps/app.xml" Id="R97f741263c0b465d" /><Relationship Type="http://schemas.openxmlformats.org/officeDocument/2006/relationships/officeDocument" Target="/ppt/presentation.xml" Id="Ra7ffd739ab37497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905853081c345ab"/>
  </p:sldMasterIdLst>
  <p:notesMasterIdLst>
    <p:notesMasterId xmlns:r="http://schemas.openxmlformats.org/officeDocument/2006/relationships" r:id="R130ef5fc6b4c4102"/>
  </p:notesMasterIdLst>
  <p:sldIdLst>
    <p:sldId xmlns:r="http://schemas.openxmlformats.org/officeDocument/2006/relationships" id="256" r:id="Rcea39cc14af84ab3"/>
    <p:sldId xmlns:r="http://schemas.openxmlformats.org/officeDocument/2006/relationships" id="257" r:id="R3d4af3fa35c6408a"/>
    <p:sldId xmlns:r="http://schemas.openxmlformats.org/officeDocument/2006/relationships" id="258" r:id="Ra2b41a0920464790"/>
    <p:sldId xmlns:r="http://schemas.openxmlformats.org/officeDocument/2006/relationships" id="259" r:id="R269e8730f763469a"/>
    <p:sldId xmlns:r="http://schemas.openxmlformats.org/officeDocument/2006/relationships" id="260" r:id="Rddea82d1a0034e7d"/>
    <p:sldId xmlns:r="http://schemas.openxmlformats.org/officeDocument/2006/relationships" id="261" r:id="R1b212fc2a59f4dbf"/>
    <p:sldId xmlns:r="http://schemas.openxmlformats.org/officeDocument/2006/relationships" id="262" r:id="Re8391750aa77499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e22fb78d2444422" /><Relationship Type="http://schemas.openxmlformats.org/officeDocument/2006/relationships/slideMaster" Target="/ppt/slideMasters/slideMaster1.xml" Id="R7905853081c345ab" /><Relationship Type="http://schemas.openxmlformats.org/officeDocument/2006/relationships/notesMaster" Target="/ppt/notesMasters/notesMaster1.xml" Id="R130ef5fc6b4c4102" /><Relationship Type="http://schemas.openxmlformats.org/officeDocument/2006/relationships/presProps" Target="/ppt/presProps.xml" Id="Rabc176142da44bfc" /><Relationship Type="http://schemas.openxmlformats.org/officeDocument/2006/relationships/tableStyles" Target="/ppt/tableStyles.xml" Id="Rc6b6aa24cffe454e" /><Relationship Type="http://schemas.openxmlformats.org/officeDocument/2006/relationships/slide" Target="/ppt/slides/slide1.xml" Id="Rcea39cc14af84ab3" /><Relationship Type="http://schemas.openxmlformats.org/officeDocument/2006/relationships/slide" Target="/ppt/slides/slide2.xml" Id="R3d4af3fa35c6408a" /><Relationship Type="http://schemas.openxmlformats.org/officeDocument/2006/relationships/slide" Target="/ppt/slides/slide3.xml" Id="Ra2b41a0920464790" /><Relationship Type="http://schemas.openxmlformats.org/officeDocument/2006/relationships/slide" Target="/ppt/slides/slide4.xml" Id="R269e8730f763469a" /><Relationship Type="http://schemas.openxmlformats.org/officeDocument/2006/relationships/slide" Target="/ppt/slides/slide5.xml" Id="Rddea82d1a0034e7d" /><Relationship Type="http://schemas.openxmlformats.org/officeDocument/2006/relationships/slide" Target="/ppt/slides/slide6.xml" Id="R1b212fc2a59f4dbf" /><Relationship Type="http://schemas.openxmlformats.org/officeDocument/2006/relationships/slide" Target="/ppt/slides/slide7.xml" Id="Re8391750aa77499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676dfb6ba964f8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94ea27bcc8a47cb" /><Relationship Type="http://schemas.openxmlformats.org/officeDocument/2006/relationships/notesMaster" Target="/ppt/notesMasters/notesMaster1.xml" Id="R0508e6479c4f463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17b79ec2cd74e8c" /><Relationship Type="http://schemas.openxmlformats.org/officeDocument/2006/relationships/notesMaster" Target="/ppt/notesMasters/notesMaster1.xml" Id="R0bf2728cbef2444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41c429500554bbb" /><Relationship Type="http://schemas.openxmlformats.org/officeDocument/2006/relationships/notesMaster" Target="/ppt/notesMasters/notesMaster1.xml" Id="R77a9afc8e5bd487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c1ba60036ff417f" /><Relationship Type="http://schemas.openxmlformats.org/officeDocument/2006/relationships/notesMaster" Target="/ppt/notesMasters/notesMaster1.xml" Id="R488f4498d8ce4f0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d5a7ffc4b504026" /><Relationship Type="http://schemas.openxmlformats.org/officeDocument/2006/relationships/notesMaster" Target="/ppt/notesMasters/notesMaster1.xml" Id="Re9cbb85082a745b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276f0e141eb4dbe" /><Relationship Type="http://schemas.openxmlformats.org/officeDocument/2006/relationships/notesMaster" Target="/ppt/notesMasters/notesMaster1.xml" Id="R79f69a702fac4ab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d5ddf1fb90f4076" /><Relationship Type="http://schemas.openxmlformats.org/officeDocument/2006/relationships/notesMaster" Target="/ppt/notesMasters/notesMaster1.xml" Id="Ree6ec04dada94be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59bfc01ac6428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d5b719d5d3141b0" /><Relationship Type="http://schemas.openxmlformats.org/officeDocument/2006/relationships/slideLayout" Target="/ppt/slideLayouts/slideLayout1.xml" Id="Rcf766f93410a4aa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f766f93410a4aa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fab28923704100" /><Relationship Type="http://schemas.openxmlformats.org/officeDocument/2006/relationships/notesSlide" Target="/ppt/notesSlides/notesSlide1.xml" Id="R4f19afe2a3de416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2e3164161d4efc" /><Relationship Type="http://schemas.openxmlformats.org/officeDocument/2006/relationships/notesSlide" Target="/ppt/notesSlides/notesSlide2.xml" Id="R0e1652e9d37f451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84a28500e3485c" /><Relationship Type="http://schemas.openxmlformats.org/officeDocument/2006/relationships/notesSlide" Target="/ppt/notesSlides/notesSlide3.xml" Id="R79652f7c7f8146a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1dc5cfe89e4656" /><Relationship Type="http://schemas.openxmlformats.org/officeDocument/2006/relationships/notesSlide" Target="/ppt/notesSlides/notesSlide4.xml" Id="R3735f5ad66b6422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1b6151d0274892" /><Relationship Type="http://schemas.openxmlformats.org/officeDocument/2006/relationships/notesSlide" Target="/ppt/notesSlides/notesSlide5.xml" Id="R0328b88530d648d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9b455bf0a54ca4" /><Relationship Type="http://schemas.openxmlformats.org/officeDocument/2006/relationships/notesSlide" Target="/ppt/notesSlides/notesSlide6.xml" Id="Rd812db0990f64dd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5ff1ef9d8e4a27" /><Relationship Type="http://schemas.openxmlformats.org/officeDocument/2006/relationships/notesSlide" Target="/ppt/notesSlides/notesSlide7.xml" Id="Rea4e247b9f5b440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AE301B4-8765-4624-9807-B34738D8F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391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66C4A1-D6D6-479D-8551-0213D77B0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95400"/>
            <a:ext cx="5334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111111"/>
                </a:solidFill>
              </a:defRPr>
            </a:pPr>
            <a:r>
              <a:rPr sz="5400" b="1">
                <a:solidFill>
                  <a:srgbClr val="111111"/>
                </a:solidFill>
              </a:rPr>
              <a:t>轻笔记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396B5C-0D8E-4E96-80BE-CD5DC7E55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00300"/>
            <a:ext cx="638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55555"/>
                </a:solidFill>
              </a:defRPr>
            </a:pPr>
            <a:r>
              <a:rPr sz="2250" b="0">
                <a:solidFill>
                  <a:srgbClr val="555555"/>
                </a:solidFill>
              </a:rPr>
              <a:t>产品设计与技术架构说明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12B53E-DDFA-4B48-A856-55D2D6920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95800"/>
            <a:ext cx="5810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一个面向快速记录、检索和轻量同步的浏览器笔记应用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106BE4-3D4C-440B-8C6F-44735BF58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143000"/>
            <a:ext cx="3429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F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AF1277-F43B-45D8-ABE7-FCB8EA807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981200"/>
            <a:ext cx="2381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200" b="1">
                <a:solidFill>
                  <a:srgbClr val="1F7A65"/>
                </a:solidFill>
              </a:defRPr>
            </a:pPr>
            <a:r>
              <a:rPr sz="4200" b="1">
                <a:solidFill>
                  <a:srgbClr val="1F7A65"/>
                </a:solidFill>
              </a:rPr>
              <a:t>Note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02FE9D-3CD1-46F9-962F-2A138CFB5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971800"/>
            <a:ext cx="1905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111111"/>
                </a:solidFill>
              </a:defRPr>
            </a:pPr>
            <a:r>
              <a:rPr sz="2100" b="0">
                <a:solidFill>
                  <a:srgbClr val="111111"/>
                </a:solidFill>
              </a:rPr>
              <a:t>Markdown</a:t>
            </a:r>
          </a:p>
          <a:p xmlns:a="http://schemas.openxmlformats.org/drawingml/2006/main">
            <a:pPr algn="ctr">
              <a:defRPr sz="2100" b="0">
                <a:solidFill>
                  <a:srgbClr val="111111"/>
                </a:solidFill>
              </a:defRPr>
            </a:pPr>
            <a:r>
              <a:rPr sz="2100" b="0">
                <a:solidFill>
                  <a:srgbClr val="111111"/>
                </a:solidFill>
              </a:rPr>
              <a:t>Search</a:t>
            </a:r>
          </a:p>
          <a:p xmlns:a="http://schemas.openxmlformats.org/drawingml/2006/main">
            <a:pPr algn="ctr">
              <a:defRPr sz="2100" b="0">
                <a:solidFill>
                  <a:srgbClr val="111111"/>
                </a:solidFill>
              </a:defRPr>
            </a:pPr>
            <a:r>
              <a:rPr sz="2100" b="0">
                <a:solidFill>
                  <a:srgbClr val="111111"/>
                </a:solidFill>
              </a:rPr>
              <a:t>Sync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1142A9-3053-45F0-8909-D1EEC0A7C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24423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2C5CB90-E482-4DE3-B4D8-04F44CBBD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8572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</a:defRPr>
            </a:pPr>
            <a:r>
              <a:rPr sz="2925" b="1">
                <a:solidFill>
                  <a:srgbClr val="111111"/>
                </a:solidFill>
              </a:rPr>
              <a:t>产品定位很克制：把记录、查找、继续写作放在同一屏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770B11-461F-4632-BF67-59547AA81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752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它不是知识库平台，而是一个启动快、负担低、可随手提交的轻量笔记工具。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41F178-8BA8-4BF4-BA41-01971F196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43150"/>
            <a:ext cx="3562350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43ED40-6746-4546-B790-51A73CC64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目标用户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0A93C5-0165-4D68-9241-8CCDEC13D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2895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需要快速记录学习、会议和灵感的人。重点是低门槛输入，而不是复杂的资料管理。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F7E019-E2DE-423E-82E3-78DC6F804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343150"/>
            <a:ext cx="3562350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F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C3215D-69F4-4C65-B2BC-D51FC4D54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6479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F7A65"/>
                </a:solidFill>
              </a:defRPr>
            </a:pPr>
            <a:r>
              <a:rPr sz="2100" b="1">
                <a:solidFill>
                  <a:srgbClr val="1F7A65"/>
                </a:solidFill>
              </a:rPr>
              <a:t>核心场景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E43169-4BDD-451F-9CDF-E2E077E62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276600"/>
            <a:ext cx="2895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创建笔记、在左侧搜索和切换、在右侧持续编辑，必要时用 Markdown 预览整理内容。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F7D9C7-E9C7-4D18-B51E-63B6D45B1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43150"/>
            <a:ext cx="3562350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307965-75DD-41F6-9095-FB73FB5F8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6479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设计取舍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74DAC5-D788-4B13-9CE4-5D181F7D4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276600"/>
            <a:ext cx="2895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用本地存储兜底，用 HTTP 服务共享 notes-data.json；功能面窄，但路径短。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91B16A-C301-4CDB-91BF-8382750CF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55555"/>
                </a:solidFill>
              </a:defRPr>
            </a:pPr>
            <a:r>
              <a:rPr sz="1350" b="1">
                <a:solidFill>
                  <a:srgbClr val="555555"/>
                </a:solidFill>
              </a:rPr>
              <a:t>产品判断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5A4240-79B3-4FA5-8A07-20A951EB6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581650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当前版本的价值来自清晰的信息架构和稳定保存，而不是复杂协作。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20ADEA-BDD6-47E3-8CCC-9C3F363EE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6703236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B0D601E-151B-4D10-BE0A-25A042002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8572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</a:defRPr>
            </a:pPr>
            <a:r>
              <a:rPr sz="2925" b="1">
                <a:solidFill>
                  <a:srgbClr val="111111"/>
                </a:solidFill>
              </a:rPr>
              <a:t>界面把管理和创作拆成两块，减少来回跳转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B12400-B6BF-4E4E-A487-CC368CF55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752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左侧负责选择与过滤，右侧负责当前内容的编辑、预览和提交状态。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1B9D58-3DBD-4AB2-AF2F-5C9F6A2CD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57400"/>
            <a:ext cx="32194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4E6BCD-1981-41E5-BC9B-249C1E104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0505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左侧列表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FD4532-28B2-417D-A951-6026D33E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81300"/>
            <a:ext cx="22860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11111"/>
                </a:solidFill>
              </a:defRPr>
            </a:pPr>
            <a:r>
              <a:rPr sz="1950" b="0">
                <a:solidFill>
                  <a:srgbClr val="111111"/>
                </a:solidFill>
              </a:rPr>
              <a:t>新建</a:t>
            </a:r>
          </a:p>
          <a:p xmlns:a="http://schemas.openxmlformats.org/drawingml/2006/main">
            <a:pPr algn="l">
              <a:defRPr sz="1950" b="0">
                <a:solidFill>
                  <a:srgbClr val="111111"/>
                </a:solidFill>
              </a:defRPr>
            </a:pPr>
            <a:r>
              <a:rPr sz="1950" b="0">
                <a:solidFill>
                  <a:srgbClr val="111111"/>
                </a:solidFill>
              </a:rPr>
              <a:t>搜索标题或内容</a:t>
            </a:r>
          </a:p>
          <a:p xmlns:a="http://schemas.openxmlformats.org/drawingml/2006/main">
            <a:pPr algn="l">
              <a:defRPr sz="1950" b="0">
                <a:solidFill>
                  <a:srgbClr val="111111"/>
                </a:solidFill>
              </a:defRPr>
            </a:pPr>
            <a:r>
              <a:rPr sz="1950" b="0">
                <a:solidFill>
                  <a:srgbClr val="111111"/>
                </a:solidFill>
              </a:rPr>
              <a:t>最近更新优先</a:t>
            </a:r>
          </a:p>
          <a:p xmlns:a="http://schemas.openxmlformats.org/drawingml/2006/main">
            <a:pPr algn="l">
              <a:defRPr sz="1950" b="0">
                <a:solidFill>
                  <a:srgbClr val="111111"/>
                </a:solidFill>
              </a:defRPr>
            </a:pPr>
            <a:r>
              <a:rPr sz="1950" b="0">
                <a:solidFill>
                  <a:srgbClr val="111111"/>
                </a:solidFill>
              </a:rPr>
              <a:t>悬停删除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633A96-8577-4FEE-91CC-AE1E657C7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57400"/>
            <a:ext cx="78867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7A5C36-6DAA-4725-AD0E-BF8CBAD8D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3050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5555"/>
                </a:solidFill>
              </a:defRPr>
            </a:pPr>
            <a:r>
              <a:rPr sz="1200" b="1">
                <a:solidFill>
                  <a:srgbClr val="555555"/>
                </a:solidFill>
              </a:rPr>
              <a:t>右侧编辑区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910472-6FDC-435F-9A82-BFC3FEA8C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78130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标题输入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309751-0B8D-4382-914D-BDF75D292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429000"/>
            <a:ext cx="43053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09CC93-088A-47B7-8FB4-01853F6E5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909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7A65"/>
                </a:solidFill>
              </a:defRPr>
            </a:pPr>
            <a:r>
              <a:rPr sz="1800" b="1">
                <a:solidFill>
                  <a:srgbClr val="1F7A65"/>
                </a:solidFill>
              </a:rPr>
              <a:t>Markdown 编辑 / 高亮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9B2B3D-A024-4CC4-A865-8A5CD0A8A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429000"/>
            <a:ext cx="23622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F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E27DD9-4171-4F06-B4E3-B8643EE35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79095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7A65"/>
                </a:solidFill>
              </a:defRPr>
            </a:pPr>
            <a:r>
              <a:rPr sz="1800" b="1">
                <a:solidFill>
                  <a:srgbClr val="1F7A65"/>
                </a:solidFill>
              </a:rPr>
              <a:t>预览模式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D99899-697B-4A85-945E-7E9F0D64A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953000"/>
            <a:ext cx="657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保存状态与更新时间在底部反馈，用户能确认内容是否已经提交。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505048-1A42-4191-8DD0-1E7839367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3818735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C21F055-CE94-450C-813D-0B0C0A7E1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8572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</a:defRPr>
            </a:pPr>
            <a:r>
              <a:rPr sz="2925" b="1">
                <a:solidFill>
                  <a:srgbClr val="111111"/>
                </a:solidFill>
              </a:rPr>
              <a:t>技术架构保持轻量：浏览器状态核心连接两种存储路径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806F19-2A79-4799-8CFE-CC71BC096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752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同一套 NoteApp 逻辑既能离线保存，也能通过本地 Node 服务同步到文件。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2E7FB3-39FB-4122-893D-7A19F3E4C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028950"/>
            <a:ext cx="152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1A9054-F14F-44A2-9903-11BCC1BA0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28950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052B8F-CB7D-4E57-993E-1546656C3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14750"/>
            <a:ext cx="1428750" cy="666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7C8ACA-FDCB-41CD-A856-BB37441F5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71750"/>
            <a:ext cx="17907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326CA3-A1A1-4DDE-846B-3CD0F2965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384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浏览器 UI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0AE70C-0C1B-42E9-ACE8-D41CA0819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571750"/>
            <a:ext cx="21907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DDEFE8"/>
          </a:solidFill>
          <a:ln xmlns:a="http://schemas.openxmlformats.org/drawingml/2006/main" w="9525">
            <a:solidFill>
              <a:srgbClr val="1F7A6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CFB003-F478-45F8-A0D4-DF96142DF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838450"/>
            <a:ext cx="1504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F7A65"/>
                </a:solidFill>
              </a:defRPr>
            </a:pPr>
            <a:r>
              <a:rPr sz="1800" b="1">
                <a:solidFill>
                  <a:srgbClr val="1F7A65"/>
                </a:solidFill>
              </a:rPr>
              <a:t>NoteApp 核心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EDDC89-3BDD-4246-952F-1C1C25FFC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81250"/>
            <a:ext cx="21907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367281-47CA-42E5-91C7-1A1D06A6F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64795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localStorage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4D6CA9-3EAF-4ADF-90D4-F32186523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57650"/>
            <a:ext cx="21907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EB1DC5-2244-4A77-BF15-CB50AA446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324350"/>
            <a:ext cx="169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HTTP /api/notes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736A8A-5F98-4DF2-9A53-23798A863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514850"/>
            <a:ext cx="952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8A849C-05FA-4577-BEC8-424BF64D6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057650"/>
            <a:ext cx="11239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749EF7-AA85-45A4-B393-692AB4E39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4267200"/>
            <a:ext cx="704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JSON</a:t>
            </a:r>
          </a:p>
          <a:p xmlns:a="http://schemas.openxmlformats.org/drawingml/2006/main">
            <a:pPr algn="ctr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文件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4BFAED-569E-4701-BEDB-1D47FE22A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054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6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B4F918-65D6-402C-A78A-B954730B7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29250"/>
            <a:ext cx="8343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app.js 暴露 NotesCore，浏览器和 Node 测试共用同一套纯函数。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E1B18D-4CA0-4754-94AA-6A978C7DE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626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6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0F5566-74EF-4453-A7C5-ACB082097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86450"/>
            <a:ext cx="8343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server.js 只处理静态文件、GET 和 PUT，降低部署和理解成本。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B28A8D-B007-47E2-A468-5D8AB6DF0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73526581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61324E6-BC93-4928-A879-42188298B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8572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</a:defRPr>
            </a:pPr>
            <a:r>
              <a:rPr sz="2925" b="1">
                <a:solidFill>
                  <a:srgbClr val="111111"/>
                </a:solidFill>
              </a:rPr>
              <a:t>数据模型围绕一条笔记展开，派生逻辑都在前端完成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EA393E-A6C9-4439-AFCD-18C41FD37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752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结构小，但覆盖排序、搜索、标题派生、主题保存和 Markdown 渲染。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9CED56-E7D0-47D3-BF9A-81109DA3D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38350"/>
            <a:ext cx="4953000" cy="3448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6EDE2A-7BBE-4792-9563-AFFA644F6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111"/>
                </a:solidFill>
              </a:defRPr>
            </a:pPr>
            <a:r>
              <a:rPr sz="2550" b="1">
                <a:solidFill>
                  <a:srgbClr val="111111"/>
                </a:solidFill>
              </a:rPr>
              <a:t>Note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6951A5-FCB9-45BC-AF46-1AE3536FC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28950"/>
            <a:ext cx="1714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</a:defRPr>
            </a:pPr>
            <a:r>
              <a:rPr sz="2025" b="0">
                <a:solidFill>
                  <a:srgbClr val="111111"/>
                </a:solidFill>
              </a:rPr>
              <a:t>id</a:t>
            </a:r>
          </a:p>
          <a:p xmlns:a="http://schemas.openxmlformats.org/drawingml/2006/main">
            <a:pPr algn="l">
              <a:defRPr sz="2025" b="0">
                <a:solidFill>
                  <a:srgbClr val="111111"/>
                </a:solidFill>
              </a:defRPr>
            </a:pPr>
            <a:r>
              <a:rPr sz="2025" b="0">
                <a:solidFill>
                  <a:srgbClr val="111111"/>
                </a:solidFill>
              </a:rPr>
              <a:t>title</a:t>
            </a:r>
          </a:p>
          <a:p xmlns:a="http://schemas.openxmlformats.org/drawingml/2006/main">
            <a:pPr algn="l">
              <a:defRPr sz="2025" b="0">
                <a:solidFill>
                  <a:srgbClr val="111111"/>
                </a:solidFill>
              </a:defRPr>
            </a:pPr>
            <a:r>
              <a:rPr sz="2025" b="0">
                <a:solidFill>
                  <a:srgbClr val="111111"/>
                </a:solidFill>
              </a:rPr>
              <a:t>content</a:t>
            </a:r>
          </a:p>
          <a:p xmlns:a="http://schemas.openxmlformats.org/drawingml/2006/main">
            <a:pPr algn="l">
              <a:defRPr sz="2025" b="0">
                <a:solidFill>
                  <a:srgbClr val="111111"/>
                </a:solidFill>
              </a:defRPr>
            </a:pPr>
            <a:r>
              <a:rPr sz="2025" b="0">
                <a:solidFill>
                  <a:srgbClr val="111111"/>
                </a:solidFill>
              </a:rPr>
              <a:t>createdAt</a:t>
            </a:r>
          </a:p>
          <a:p xmlns:a="http://schemas.openxmlformats.org/drawingml/2006/main">
            <a:pPr algn="l">
              <a:defRPr sz="2025" b="0">
                <a:solidFill>
                  <a:srgbClr val="111111"/>
                </a:solidFill>
              </a:defRPr>
            </a:pPr>
            <a:r>
              <a:rPr sz="2025" b="0">
                <a:solidFill>
                  <a:srgbClr val="111111"/>
                </a:solidFill>
              </a:rPr>
              <a:t>updatedAt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A6535F-8EF1-4709-A88F-DBCA60B3D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028950"/>
            <a:ext cx="2000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唯一标识</a:t>
            </a:r>
          </a:p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最多 80 字</a:t>
            </a:r>
          </a:p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Markdown 文本</a:t>
            </a:r>
          </a:p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创建时间</a:t>
            </a:r>
          </a:p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排序依据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B9858C-E3E6-4B23-BF40-2621FDB47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038350"/>
            <a:ext cx="25146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F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21B7A4-F68E-4011-B155-41E34CAD6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241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F7A65"/>
                </a:solidFill>
              </a:defRPr>
            </a:pPr>
            <a:r>
              <a:rPr sz="1950" b="1">
                <a:solidFill>
                  <a:srgbClr val="1F7A65"/>
                </a:solidFill>
              </a:rPr>
              <a:t>normalizeNotes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3ACCEA-03C7-4D15-9999-0328AF3BE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1940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过滤坏数据，并补齐默认标题与时间。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0D16DB-6F26-4514-9B16-AAA0BCCEE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038350"/>
            <a:ext cx="25146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9F1E9D-3D86-47F4-A352-C7984F249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3241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filterNotes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502BBA-ACFD-4ED2-A77D-E4B21474E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81940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标题和内容统一搜索，再按更新时间倒序。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5AF72E-9681-4DAC-9D2C-ED5341032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019550"/>
            <a:ext cx="25146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FB60AA-12A8-4BBA-8C65-77E3CFB4F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3053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renderMarkdown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FDF4B4-02D6-4DBE-A032-F33108A7D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800600"/>
            <a:ext cx="190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支持标题、列表、引用、代码和链接，并做 HTML 转义。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017AF1-DE90-412D-8882-BF97EE132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019550"/>
            <a:ext cx="25146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2A3166-9ABE-407F-BAAF-680399E7B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305300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theme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777906-D568-4843-9114-FE1B535F4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80060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明暗主题独立保存，CSS 变量负责整体换肤。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6E4136-57C8-4052-817E-D2F352C66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7687298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D5B0F08-6A38-48F5-AC2D-BA071B13E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8572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</a:defRPr>
            </a:pPr>
            <a:r>
              <a:rPr sz="2925" b="1">
                <a:solidFill>
                  <a:srgbClr val="111111"/>
                </a:solidFill>
              </a:rPr>
              <a:t>同步设计选择了可恢复路径，而不是强一致协作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2238F3-9496-43CA-BE7E-C46A3FCCD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752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远端不可用时回退本地读取；编辑中暂停轮询，避免覆盖用户正在输入的内容。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93524B-227C-45AD-93A9-62E2AFC0F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581400"/>
            <a:ext cx="1543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F7A6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DCA7DB-5C74-495C-9F78-2C8E53C1A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581400"/>
            <a:ext cx="1543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F7A6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2209D3-F524-43B6-BD7C-3F155B155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581400"/>
            <a:ext cx="1543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F7A6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EAC2AA-277D-407C-9B24-2E212AD9A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86050"/>
            <a:ext cx="20383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2A2FB6-73C4-4739-A8EE-7382B0337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289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加载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6D9AC9-60B8-4721-8550-F659377AA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62350"/>
            <a:ext cx="142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GET /api/notes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失败则读本地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4A1128-DF90-4216-9804-670D0789C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86050"/>
            <a:ext cx="20383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F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93CDF0-32F0-4B77-90AB-AC0AD480C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0289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F7A65"/>
                </a:solidFill>
              </a:defRPr>
            </a:pPr>
            <a:r>
              <a:rPr sz="2250" b="1">
                <a:solidFill>
                  <a:srgbClr val="1F7A65"/>
                </a:solidFill>
              </a:rPr>
              <a:t>编辑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EA69D4-783E-40E3-A7E2-7CB759D72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562350"/>
            <a:ext cx="142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180ms 防抖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更新 updatedAt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FC4978-7353-43BC-978B-63C523ECC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686050"/>
            <a:ext cx="20383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663E6B-13F5-4654-AD5E-8D681FBC9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289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提交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8882CD-13F2-4FDC-BE11-81DB62014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562350"/>
            <a:ext cx="142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PUT /api/notes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服务端规范化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6FB247-FA81-4C7E-9DFA-DC0DE1140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86050"/>
            <a:ext cx="203835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079692-24FE-4835-A542-A8EB46641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028950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</a:rPr>
              <a:t>轮询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6C5BFD-675A-45E7-A0B2-425D84E03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562350"/>
            <a:ext cx="1428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2.5s refresh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编辑时跳过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F74ACE-096C-46DC-999E-F43B232E3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0"/>
            <a:ext cx="962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</a:defRPr>
            </a:pPr>
            <a:r>
              <a:rPr sz="1800" b="0">
                <a:solidFill>
                  <a:srgbClr val="111111"/>
                </a:solidFill>
              </a:rPr>
              <a:t>这套同步模型适合单机或同一局域场景。多人冲突、历史版本和权限控制还没有进入当前设计。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CB34B5-42AE-4029-8FF2-6DE3CD3B4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08536815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78B9188-3BEC-48A0-89F0-0CA5FF7E5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8572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</a:defRPr>
            </a:pPr>
            <a:r>
              <a:rPr sz="2925" b="1">
                <a:solidFill>
                  <a:srgbClr val="111111"/>
                </a:solidFill>
              </a:rPr>
              <a:t>当前实现已经可测试，下一步应补上数据安全和编辑体验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813DC6-E5F9-46D1-B67E-8FC6A4CF8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752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测试覆盖了核心函数、应用交互、远端同步、主题切换和 Markdown 渲染。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C68036-5CA8-4188-908A-085308D61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23241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F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4D6799-5B94-4B03-9455-3E3B1D49A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66950"/>
            <a:ext cx="1619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F7A65"/>
                </a:solidFill>
              </a:defRPr>
            </a:pPr>
            <a:r>
              <a:rPr sz="4050" b="1">
                <a:solidFill>
                  <a:srgbClr val="1F7A65"/>
                </a:solidFill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557AC9-EC0F-4664-B754-C550D4065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908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测试场景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2DF871-7E12-47F4-AEAF-A2B2B9210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00250"/>
            <a:ext cx="23241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811E59-FAA1-4D1F-8AE4-7574B25C7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266950"/>
            <a:ext cx="1619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11111"/>
                </a:solidFill>
              </a:defRPr>
            </a:pPr>
            <a:r>
              <a:rPr sz="4050" b="1">
                <a:solidFill>
                  <a:srgbClr val="111111"/>
                </a:solidFill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FD8CC0-2BDE-4CB7-A976-D40D82958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9908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存储路径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D9BE46-F04B-4DE4-A2BC-E59420CF6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00250"/>
            <a:ext cx="23241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BB7052-AD67-4D71-8608-0DE5227CC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266950"/>
            <a:ext cx="1619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11111"/>
                </a:solidFill>
              </a:defRPr>
            </a:pPr>
            <a:r>
              <a:rPr sz="4050" b="1">
                <a:solidFill>
                  <a:srgbClr val="111111"/>
                </a:solidFill>
              </a:rPr>
              <a:t>1MB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B4AF5E-93E1-420F-8A36-5936CD8E3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9908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请求上限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47F477-553A-43ED-9D93-7AE90831C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000250"/>
            <a:ext cx="23241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692B8D-DE7C-470C-BE12-15E8AAC01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266950"/>
            <a:ext cx="1619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11111"/>
                </a:solidFill>
              </a:defRPr>
            </a:pPr>
            <a:r>
              <a:rPr sz="4050" b="1">
                <a:solidFill>
                  <a:srgbClr val="111111"/>
                </a:solidFill>
              </a:rPr>
              <a:t>2.5s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D3F34A-491E-4969-A52A-503E8B898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9908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同步轮询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F1B70A-2771-4A91-ABAA-330CFE09C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9575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建议演进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B5DDB4-0665-4628-8BF2-3DD2A5751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053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E8DF14-0A28-42D6-A359-225C6A61A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29150"/>
            <a:ext cx="8534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修复源码中文编码显示链路，确保仓库、服务端响应和测试输出一致。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263973-E7EC-4754-8BDA-8E00665D2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816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5B5464-16B9-42CA-BC85-0EB0E1AFB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05400"/>
            <a:ext cx="8534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为 notes-data.json 增加原子写入与备份，降低异常退出造成的数据损坏风险。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79223C-0AFA-4C67-8B66-54BDC6EAF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578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135CF1-4556-43B0-9CDF-DD34A4DE2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81650"/>
            <a:ext cx="8534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补充导入导出、版本历史或冲突提示，让轻量同步更可靠。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D2FD43-98EC-47F2-8B92-89B9627AF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555555"/>
                </a:solidFill>
              </a:defRPr>
            </a:pPr>
            <a:r>
              <a:rPr sz="1125" b="0">
                <a:solidFill>
                  <a:srgbClr val="555555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0311839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2026-07-08T03:28:46.7760000Z</dcterms:created>
  <dcterms:modified xsi:type="dcterms:W3CDTF">2026-07-08T03:28:46.7760000Z</dcterms:modified>
</coreProperties>
</file>