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ee23d82d0e479e" /><Relationship Type="http://schemas.openxmlformats.org/officeDocument/2006/relationships/extended-properties" Target="/docProps/app.xml" Id="Rdb23e50f238f4556" /><Relationship Type="http://schemas.openxmlformats.org/officeDocument/2006/relationships/officeDocument" Target="/ppt/presentation.xml" Id="R507eab81338a43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74679d957042b5"/>
  </p:sldMasterIdLst>
  <p:notesMasterIdLst>
    <p:notesMasterId xmlns:r="http://schemas.openxmlformats.org/officeDocument/2006/relationships" r:id="R7ed580214da14861"/>
  </p:notesMasterIdLst>
  <p:sldIdLst>
    <p:sldId xmlns:r="http://schemas.openxmlformats.org/officeDocument/2006/relationships" id="256" r:id="R993b126bba3048ee"/>
    <p:sldId xmlns:r="http://schemas.openxmlformats.org/officeDocument/2006/relationships" id="257" r:id="Re30e1fe35f754208"/>
    <p:sldId xmlns:r="http://schemas.openxmlformats.org/officeDocument/2006/relationships" id="258" r:id="Refdd4fe468ac4221"/>
    <p:sldId xmlns:r="http://schemas.openxmlformats.org/officeDocument/2006/relationships" id="259" r:id="R00cb6c2fe0764d65"/>
    <p:sldId xmlns:r="http://schemas.openxmlformats.org/officeDocument/2006/relationships" id="260" r:id="Rc6f1b3852bec4884"/>
    <p:sldId xmlns:r="http://schemas.openxmlformats.org/officeDocument/2006/relationships" id="261" r:id="R128a85c9e8b84808"/>
    <p:sldId xmlns:r="http://schemas.openxmlformats.org/officeDocument/2006/relationships" id="262" r:id="R4f50d225b58046a2"/>
    <p:sldId xmlns:r="http://schemas.openxmlformats.org/officeDocument/2006/relationships" id="263" r:id="Rf1b1ea548cf747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8dc5f5ab1f4535" /><Relationship Type="http://schemas.openxmlformats.org/officeDocument/2006/relationships/slideMaster" Target="/ppt/slideMasters/slideMaster1.xml" Id="R6774679d957042b5" /><Relationship Type="http://schemas.openxmlformats.org/officeDocument/2006/relationships/notesMaster" Target="/ppt/notesMasters/notesMaster1.xml" Id="R7ed580214da14861" /><Relationship Type="http://schemas.openxmlformats.org/officeDocument/2006/relationships/presProps" Target="/ppt/presProps.xml" Id="Rbea0d54ecc444999" /><Relationship Type="http://schemas.openxmlformats.org/officeDocument/2006/relationships/tableStyles" Target="/ppt/tableStyles.xml" Id="R4e1481a9330345a3" /><Relationship Type="http://schemas.openxmlformats.org/officeDocument/2006/relationships/slide" Target="/ppt/slides/slide1.xml" Id="R993b126bba3048ee" /><Relationship Type="http://schemas.openxmlformats.org/officeDocument/2006/relationships/slide" Target="/ppt/slides/slide2.xml" Id="Re30e1fe35f754208" /><Relationship Type="http://schemas.openxmlformats.org/officeDocument/2006/relationships/slide" Target="/ppt/slides/slide3.xml" Id="Refdd4fe468ac4221" /><Relationship Type="http://schemas.openxmlformats.org/officeDocument/2006/relationships/slide" Target="/ppt/slides/slide4.xml" Id="R00cb6c2fe0764d65" /><Relationship Type="http://schemas.openxmlformats.org/officeDocument/2006/relationships/slide" Target="/ppt/slides/slide5.xml" Id="Rc6f1b3852bec4884" /><Relationship Type="http://schemas.openxmlformats.org/officeDocument/2006/relationships/slide" Target="/ppt/slides/slide6.xml" Id="R128a85c9e8b84808" /><Relationship Type="http://schemas.openxmlformats.org/officeDocument/2006/relationships/slide" Target="/ppt/slides/slide7.xml" Id="R4f50d225b58046a2" /><Relationship Type="http://schemas.openxmlformats.org/officeDocument/2006/relationships/slide" Target="/ppt/slides/slide8.xml" Id="Rf1b1ea548cf747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b3738f5eab4b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d20d06bb4b4db9" /><Relationship Type="http://schemas.openxmlformats.org/officeDocument/2006/relationships/notesMaster" Target="/ppt/notesMasters/notesMaster1.xml" Id="Re1446c48acde45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2336778f2d4eb0" /><Relationship Type="http://schemas.openxmlformats.org/officeDocument/2006/relationships/notesMaster" Target="/ppt/notesMasters/notesMaster1.xml" Id="Rd7c94a5da0ed48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ac289141374972" /><Relationship Type="http://schemas.openxmlformats.org/officeDocument/2006/relationships/notesMaster" Target="/ppt/notesMasters/notesMaster1.xml" Id="Red5097b7cb6b42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c42dd23295423d" /><Relationship Type="http://schemas.openxmlformats.org/officeDocument/2006/relationships/notesMaster" Target="/ppt/notesMasters/notesMaster1.xml" Id="Rf15a290325fb4b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880e817f9c41af" /><Relationship Type="http://schemas.openxmlformats.org/officeDocument/2006/relationships/notesMaster" Target="/ppt/notesMasters/notesMaster1.xml" Id="Rd3470f482aec42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4fa63c713e4e95" /><Relationship Type="http://schemas.openxmlformats.org/officeDocument/2006/relationships/notesMaster" Target="/ppt/notesMasters/notesMaster1.xml" Id="R330a6e391bfc4a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2a9c80c2fe4928" /><Relationship Type="http://schemas.openxmlformats.org/officeDocument/2006/relationships/notesMaster" Target="/ppt/notesMasters/notesMaster1.xml" Id="Rd44bfc897aa14a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b2c7ea9e9a4af5" /><Relationship Type="http://schemas.openxmlformats.org/officeDocument/2006/relationships/notesMaster" Target="/ppt/notesMasters/notesMaster1.xml" Id="R42f80c80a5ac49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be526331145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aea56dfde74bdc" /><Relationship Type="http://schemas.openxmlformats.org/officeDocument/2006/relationships/slideLayout" Target="/ppt/slideLayouts/slideLayout1.xml" Id="Raaa0ca90734840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a0ca90734840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7151a520749bc" /><Relationship Type="http://schemas.openxmlformats.org/officeDocument/2006/relationships/notesSlide" Target="/ppt/notesSlides/notesSlide1.xml" Id="R60be906f597541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622acfc504bf2" /><Relationship Type="http://schemas.openxmlformats.org/officeDocument/2006/relationships/notesSlide" Target="/ppt/notesSlides/notesSlide2.xml" Id="R38b76890f15443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550b55b714276" /><Relationship Type="http://schemas.openxmlformats.org/officeDocument/2006/relationships/notesSlide" Target="/ppt/notesSlides/notesSlide3.xml" Id="R367d2081083344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5866cd0a74155" /><Relationship Type="http://schemas.openxmlformats.org/officeDocument/2006/relationships/notesSlide" Target="/ppt/notesSlides/notesSlide4.xml" Id="Red85195fa7c841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d018971e54064" /><Relationship Type="http://schemas.openxmlformats.org/officeDocument/2006/relationships/notesSlide" Target="/ppt/notesSlides/notesSlide5.xml" Id="R387b999ad8c345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4c804d65a493e" /><Relationship Type="http://schemas.openxmlformats.org/officeDocument/2006/relationships/notesSlide" Target="/ppt/notesSlides/notesSlide6.xml" Id="Re73b3358bf2940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456adc46947df" /><Relationship Type="http://schemas.openxmlformats.org/officeDocument/2006/relationships/notesSlide" Target="/ppt/notesSlides/notesSlide7.xml" Id="R348be7414d2d4c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36176a3c24960" /><Relationship Type="http://schemas.openxmlformats.org/officeDocument/2006/relationships/notesSlide" Target="/ppt/notesSlides/notesSlide8.xml" Id="R9b3bf2a343ee4f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F7F389-FD15-4A8B-996A-0F8A38F2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C6224-9526-4EE9-A8AB-08CE08C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7201C"/>
                </a:solidFill>
              </a:defRPr>
            </a:pPr>
            <a:r>
              <a:rPr sz="5100" b="1">
                <a:solidFill>
                  <a:srgbClr val="17201C"/>
                </a:solidFill>
              </a:rPr>
              <a:t>轻笔记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27036-741A-4DCC-A3A6-ADA36BE8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706B"/>
                </a:solidFill>
              </a:defRPr>
            </a:pPr>
            <a:r>
              <a:rPr sz="2100" b="0">
                <a:solidFill>
                  <a:srgbClr val="64706B"/>
                </a:solidFill>
              </a:rPr>
              <a:t>产品设计与技术架构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878A2-D15C-42BD-9CD1-CD4E3EB5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1C"/>
                </a:solidFill>
              </a:defRPr>
            </a:pPr>
            <a:r>
              <a:rPr sz="1725" b="0">
                <a:solidFill>
                  <a:srgbClr val="17201C"/>
                </a:solidFill>
              </a:rPr>
              <a:t>围绕快速记录、Markdown 编辑、轻量同步和可测试核心展开。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94F3B-0BEE-4210-B9A2-9E148002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76300"/>
            <a:ext cx="49530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4AEAC-D4A9-47C1-A6B6-2DC1DF51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763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5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628BE-2CC6-4CB4-BCAA-BBE888A5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19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A465B-DF1A-42D0-8C69-3B7832B6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19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93042-4EAE-49E6-A48C-8DEB3FC7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19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DB065-D4F5-4211-AC74-F8F7C07C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76350"/>
            <a:ext cx="14668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FB918-1D12-41F1-82A4-616750E5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1C"/>
                </a:solidFill>
              </a:defRPr>
            </a:pPr>
            <a:r>
              <a:rPr sz="1425" b="1">
                <a:solidFill>
                  <a:srgbClr val="17201C"/>
                </a:solidFill>
              </a:rPr>
              <a:t>轻笔记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B329A-9C7D-492B-9AA8-3BF1B457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66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F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86A5B-E4E9-49B0-A898-7340F939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33525"/>
            <a:ext cx="9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A8093-636F-46FB-8FF3-0A713832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1009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49433-6C53-4BB2-AC50-DAA96B5C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9775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6B"/>
                </a:solidFill>
              </a:defRPr>
            </a:pPr>
            <a:r>
              <a:rPr sz="825" b="0">
                <a:solidFill>
                  <a:srgbClr val="64706B"/>
                </a:solidFill>
              </a:rPr>
              <a:t>搜索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8BD99-9EE8-4292-81CE-9ED20BD5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2076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FE8"/>
          </a:solidFill>
          <a:ln xmlns:a="http://schemas.openxmlformats.org/drawingml/2006/main" w="9525">
            <a:solidFill>
              <a:srgbClr val="A9D8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97BE7-A7C5-426C-8FEE-01408F4B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860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65"/>
                </a:solidFill>
              </a:defRPr>
            </a:pPr>
            <a:r>
              <a:rPr sz="975" b="1">
                <a:solidFill>
                  <a:srgbClr val="1F7A65"/>
                </a:solidFill>
              </a:rPr>
              <a:t>0708 学习笔记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F849E-BD9B-4BEE-A347-83B1A089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95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6B"/>
                </a:solidFill>
              </a:defRPr>
            </a:pPr>
            <a:r>
              <a:rPr sz="750" b="0">
                <a:solidFill>
                  <a:srgbClr val="64706B"/>
                </a:solidFill>
              </a:rPr>
              <a:t>Markdown / 架构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0036F-69B7-49EC-9834-2344FC66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2076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96FE0-7943-436B-A48E-4AABF023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527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C"/>
                </a:solidFill>
              </a:defRPr>
            </a:pPr>
            <a:r>
              <a:rPr sz="975" b="1">
                <a:solidFill>
                  <a:srgbClr val="17201C"/>
                </a:solidFill>
              </a:rPr>
              <a:t>0707 学习笔记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AAA7B-DA9F-44E2-BA44-95ECE387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623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6B"/>
                </a:solidFill>
              </a:defRPr>
            </a:pPr>
            <a:r>
              <a:rPr sz="750" b="0">
                <a:solidFill>
                  <a:srgbClr val="64706B"/>
                </a:solidFill>
              </a:rPr>
              <a:t>产品体验复盘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804D1-ED52-4BC5-975C-E4A3F849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002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1C"/>
                </a:solidFill>
              </a:defRPr>
            </a:pPr>
            <a:r>
              <a:rPr sz="1575" b="1">
                <a:solidFill>
                  <a:srgbClr val="17201C"/>
                </a:solidFill>
              </a:rPr>
              <a:t>Markdown 编辑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61952-6E2E-4A3F-9460-FDA35228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2705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13DF8-CC2F-4FCD-A744-6047E66E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2133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7A65"/>
                </a:solidFill>
              </a:defRPr>
            </a:pPr>
            <a:r>
              <a:rPr sz="1350" b="0">
                <a:solidFill>
                  <a:srgbClr val="1F7A65"/>
                </a:solidFill>
              </a:rPr>
              <a:t># 产品设计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7A65"/>
                </a:solidFill>
              </a:defRPr>
            </a:pPr>
            <a:r>
              <a:rPr sz="1350" b="0">
                <a:solidFill>
                  <a:srgbClr val="1F7A65"/>
                </a:solidFill>
              </a:rPr>
              <a:t>- 左侧列表管理</a:t>
            </a:r>
          </a:p>
          <a:p xmlns:a="http://schemas.openxmlformats.org/drawingml/2006/main">
            <a:pPr algn="l">
              <a:defRPr sz="1350" b="0">
                <a:solidFill>
                  <a:srgbClr val="1F7A65"/>
                </a:solidFill>
              </a:defRPr>
            </a:pPr>
            <a:r>
              <a:rPr sz="1350" b="0">
                <a:solidFill>
                  <a:srgbClr val="1F7A65"/>
                </a:solidFill>
              </a:rPr>
              <a:t>- 右侧专注写作</a:t>
            </a:r>
          </a:p>
          <a:p xmlns:a="http://schemas.openxmlformats.org/drawingml/2006/main">
            <a:pPr algn="l">
              <a:defRPr sz="1350" b="0">
                <a:solidFill>
                  <a:srgbClr val="1F7A65"/>
                </a:solidFill>
              </a:defRPr>
            </a:pPr>
            <a:r>
              <a:rPr sz="1350" b="0">
                <a:solidFill>
                  <a:srgbClr val="1F7A65"/>
                </a:solidFill>
              </a:rPr>
              <a:t>- 明暗主题切换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10FBA-66AE-4912-B15E-C99AE781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05300"/>
            <a:ext cx="2705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8895F-59FD-4D93-8927-A33A36B8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7A65"/>
                </a:solidFill>
              </a:defRPr>
            </a:pPr>
            <a:r>
              <a:rPr sz="1200" b="0">
                <a:solidFill>
                  <a:srgbClr val="1F7A65"/>
                </a:solidFill>
              </a:rPr>
              <a:t>已同步 · 更新于 11:28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0F91D-DC7E-4795-B354-07F4F776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B"/>
                </a:solidFill>
              </a:defRPr>
            </a:pPr>
            <a:r>
              <a:rPr sz="1050" b="0">
                <a:solidFill>
                  <a:srgbClr val="6470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2139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D87304-A1FC-46EE-8499-605D3D10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C"/>
                </a:solidFill>
              </a:defRPr>
            </a:pPr>
            <a:r>
              <a:rPr sz="2850" b="1">
                <a:solidFill>
                  <a:srgbClr val="17201C"/>
                </a:solidFill>
              </a:rPr>
              <a:t>产品设计先解决一条主路径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D016F-30EA-4BB4-850B-C4D5DBFC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6B"/>
                </a:solidFill>
              </a:defRPr>
            </a:pPr>
            <a:r>
              <a:rPr sz="1425" b="0">
                <a:solidFill>
                  <a:srgbClr val="64706B"/>
                </a:solidFill>
              </a:rPr>
              <a:t>用户从记录到再次找到内容，不需要理解复杂的信息组织模型。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5963D-988C-40BC-88E9-D69723CB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E1329-2F3F-4BAD-B439-B2BF0BB5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432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B8F92-8479-4C80-9149-AE3330F9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026D6-7D00-4B37-82D8-67382945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432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EA146-F3A7-4FEF-8570-968540CC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8"/>
          </a:solidFill>
          <a:ln xmlns:a="http://schemas.openxmlformats.org/drawingml/2006/main" w="9525">
            <a:solidFill>
              <a:srgbClr val="1F7A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7FF0A-5969-4DF5-B4CF-FB07E2CB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65"/>
                </a:solidFill>
              </a:defRPr>
            </a:pPr>
            <a:r>
              <a:rPr sz="1350" b="1">
                <a:solidFill>
                  <a:srgbClr val="1F7A65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11F65-B2B7-43C2-B34C-CB935E06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7A65"/>
                </a:solidFill>
              </a:defRPr>
            </a:pPr>
            <a:r>
              <a:rPr sz="2025" b="1">
                <a:solidFill>
                  <a:srgbClr val="1F7A65"/>
                </a:solidFill>
              </a:rPr>
              <a:t>捕捉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C7A6F-0BF3-4598-999B-F34E1D67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新建笔记后立即进入可写状态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DA4F5-7D0E-401C-AA4A-B1C3F519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24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DF8"/>
          </a:solidFill>
          <a:ln xmlns:a="http://schemas.openxmlformats.org/drawingml/2006/main" w="9525">
            <a:solidFill>
              <a:srgbClr val="2F5F9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BB94D-41B6-4B59-948C-E9C1CEA8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F98"/>
                </a:solidFill>
              </a:defRPr>
            </a:pPr>
            <a:r>
              <a:rPr sz="1350" b="1">
                <a:solidFill>
                  <a:srgbClr val="2F5F98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D90CC-5E8B-4A37-9A77-9EF48AA8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24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5F98"/>
                </a:solidFill>
              </a:defRPr>
            </a:pPr>
            <a:r>
              <a:rPr sz="2025" b="1">
                <a:solidFill>
                  <a:srgbClr val="2F5F98"/>
                </a:solidFill>
              </a:rPr>
              <a:t>组织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FA6C1-1BBA-4235-AA27-F69BD34B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标题来自输入，也可手动命名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FD9B1-E040-4BD9-955E-852741ED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24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6DC"/>
          </a:solidFill>
          <a:ln xmlns:a="http://schemas.openxmlformats.org/drawingml/2006/main" w="9525">
            <a:solidFill>
              <a:srgbClr val="E26A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CA714-B48A-4C64-905D-459FE4BA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289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26A2C"/>
                </a:solidFill>
              </a:defRPr>
            </a:pPr>
            <a:r>
              <a:rPr sz="1350" b="1">
                <a:solidFill>
                  <a:srgbClr val="E26A2C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11479-99C3-4DEC-9309-468A37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24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6A2C"/>
                </a:solidFill>
              </a:defRPr>
            </a:pPr>
            <a:r>
              <a:rPr sz="2025" b="1">
                <a:solidFill>
                  <a:srgbClr val="E26A2C"/>
                </a:solidFill>
              </a:rPr>
              <a:t>回看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3F9B1-EF07-4DB9-A45A-CA759421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按更新时间排序，搜索标题和正文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029D4-1FB5-47AE-84FE-F6F60373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24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AE5"/>
          </a:solidFill>
          <a:ln xmlns:a="http://schemas.openxmlformats.org/drawingml/2006/main" w="9525">
            <a:solidFill>
              <a:srgbClr val="2633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D20D3-95B9-4AD4-B5DF-F999EBCE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32E"/>
                </a:solidFill>
              </a:defRPr>
            </a:pPr>
            <a:r>
              <a:rPr sz="1350" b="1">
                <a:solidFill>
                  <a:srgbClr val="26332E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1CBDB-D003-461A-B572-7B200CB9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24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32E"/>
                </a:solidFill>
              </a:defRPr>
            </a:pPr>
            <a:r>
              <a:rPr sz="2025" b="1">
                <a:solidFill>
                  <a:srgbClr val="26332E"/>
                </a:solidFill>
              </a:rPr>
              <a:t>沉淀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5DA3F-5027-406C-9FA7-6413A2DE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Markdown 预览让内容可读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6B26D-0CE8-41BA-89EC-9B57CF26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B65E6C-54F4-4909-A22D-46EED249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1C"/>
                </a:solidFill>
              </a:defRPr>
            </a:pPr>
            <a:r>
              <a:rPr sz="1950" b="1">
                <a:solidFill>
                  <a:srgbClr val="17201C"/>
                </a:solidFill>
              </a:rPr>
              <a:t>设计原则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7C333-2B3F-4EAD-914A-1D6000E0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05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47B040-67C7-4096-9817-27A9B7B5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38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1C"/>
                </a:solidFill>
              </a:defRPr>
            </a:pPr>
            <a:r>
              <a:rPr sz="1425" b="0">
                <a:solidFill>
                  <a:srgbClr val="17201C"/>
                </a:solidFill>
              </a:rPr>
              <a:t>把列表、搜索、编辑放在同一个稳定屏幕里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9B79B3-02DD-4FA6-A477-CEE34A1A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24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E1DC65-8BDF-48C0-94AA-0D29D810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1C"/>
                </a:solidFill>
              </a:defRPr>
            </a:pPr>
            <a:r>
              <a:rPr sz="1425" b="0">
                <a:solidFill>
                  <a:srgbClr val="17201C"/>
                </a:solidFill>
              </a:rPr>
              <a:t>把保存状态显式化，降低用户对数据丢失的担心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8BE93-957A-4B10-8EC5-EBA059F2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43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B1AA1-1A09-4EEC-99B1-3233D1C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76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1C"/>
                </a:solidFill>
              </a:defRPr>
            </a:pPr>
            <a:r>
              <a:rPr sz="1425" b="0">
                <a:solidFill>
                  <a:srgbClr val="17201C"/>
                </a:solidFill>
              </a:rPr>
              <a:t>功能边界保持小，优先保证启动速度和理解成本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A4FF5-F92E-48D9-AD0C-3145F264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B"/>
                </a:solidFill>
              </a:defRPr>
            </a:pPr>
            <a:r>
              <a:rPr sz="1050" b="0">
                <a:solidFill>
                  <a:srgbClr val="6470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4903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52218C-160B-490B-B010-E67982A3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C"/>
                </a:solidFill>
              </a:defRPr>
            </a:pPr>
            <a:r>
              <a:rPr sz="2850" b="1">
                <a:solidFill>
                  <a:srgbClr val="17201C"/>
                </a:solidFill>
              </a:rPr>
              <a:t>界面结构比上一版更接近真实产品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9305A-A09F-48BD-94D8-CFE84BD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6B"/>
                </a:solidFill>
              </a:defRPr>
            </a:pPr>
            <a:r>
              <a:rPr sz="1425" b="0">
                <a:solidFill>
                  <a:srgbClr val="64706B"/>
                </a:solidFill>
              </a:rPr>
              <a:t>左侧是信息管理，右侧是内容生产；两个区域的职责和反馈都清楚呈现。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8BF1E-7613-45D6-BD68-5FC0EE4B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CA75B-4FCD-49C8-BD1F-30B0925F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7239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A1902-D0A8-4FCA-8274-C2449E3A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5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24487-D02D-4C6D-AEE4-EAF2E5BD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28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D7AE3-87C0-4B57-A9C4-EC279F92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28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E30FF-25FF-4847-9768-70EC7AB3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28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8AB04-B3DE-49FA-915C-3E8A70DA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2860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2A08F-4E5C-4F6F-9DB6-87373120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1C"/>
                </a:solidFill>
              </a:defRPr>
            </a:pPr>
            <a:r>
              <a:rPr sz="1500" b="1">
                <a:solidFill>
                  <a:srgbClr val="17201C"/>
                </a:solidFill>
              </a:rPr>
              <a:t>轻笔记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FC552-CA7D-4345-BC39-4025D359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B"/>
                </a:solidFill>
              </a:defRPr>
            </a:pPr>
            <a:r>
              <a:rPr sz="900" b="0">
                <a:solidFill>
                  <a:srgbClr val="64706B"/>
                </a:solidFill>
              </a:rPr>
              <a:t>2 条笔记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B212D-F405-490E-BEA8-F1BA8714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24125"/>
            <a:ext cx="304800" cy="3238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F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1B0FF-CC10-49CD-8918-70964FBD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76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54B28-2B98-4602-8CF5-0CC4FED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CE64F-1BDB-4296-A014-44A1736F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28975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B"/>
                </a:solidFill>
              </a:defRPr>
            </a:pPr>
            <a:r>
              <a:rPr sz="900" b="0">
                <a:solidFill>
                  <a:srgbClr val="64706B"/>
                </a:solidFill>
              </a:rPr>
              <a:t>搜索标题或内容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47E85-2399-438A-B1A8-69A33E79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076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FE8"/>
          </a:solidFill>
          <a:ln xmlns:a="http://schemas.openxmlformats.org/drawingml/2006/main" w="9525">
            <a:solidFill>
              <a:srgbClr val="A9D8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6ECE3-F931-4505-BB94-C4B1BF79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95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65"/>
                </a:solidFill>
              </a:defRPr>
            </a:pPr>
            <a:r>
              <a:rPr sz="975" b="1">
                <a:solidFill>
                  <a:srgbClr val="1F7A65"/>
                </a:solidFill>
              </a:rPr>
              <a:t>0708 学习笔记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E5CBD-731E-45AD-9E83-ECFAE0ED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290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6B"/>
                </a:solidFill>
              </a:defRPr>
            </a:pPr>
            <a:r>
              <a:rPr sz="750" b="0">
                <a:solidFill>
                  <a:srgbClr val="64706B"/>
                </a:solidFill>
              </a:rPr>
              <a:t>产品设计、技术架构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2870E-D394-4155-94EF-FDB3A1D8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2076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C08A9-07D4-437B-A01A-FB578D85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053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1C"/>
                </a:solidFill>
              </a:defRPr>
            </a:pPr>
            <a:r>
              <a:rPr sz="975" b="1">
                <a:solidFill>
                  <a:srgbClr val="17201C"/>
                </a:solidFill>
              </a:rPr>
              <a:t>0707 学习笔记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EA45A-C3D3-4602-A220-C5255587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148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6B"/>
                </a:solidFill>
              </a:defRPr>
            </a:pPr>
            <a:r>
              <a:rPr sz="750" b="0">
                <a:solidFill>
                  <a:srgbClr val="64706B"/>
                </a:solidFill>
              </a:rPr>
              <a:t>同步机制、Markdown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03147-2B1B-4ED8-BF9C-9148A9AA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6B"/>
                </a:solidFill>
              </a:defRPr>
            </a:pPr>
            <a:r>
              <a:rPr sz="975" b="1">
                <a:solidFill>
                  <a:srgbClr val="64706B"/>
                </a:solidFill>
              </a:rPr>
              <a:t>浅色模式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8524D-7F07-47B3-BE55-C84232FB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95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8"/>
          </a:solidFill>
          <a:ln xmlns:a="http://schemas.openxmlformats.org/drawingml/2006/main" w="9525">
            <a:solidFill>
              <a:srgbClr val="1F7A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BFC3D7-2FD0-44A0-8D8D-9DE88FD9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34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ED7831-5041-4E32-BD84-10058791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14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C"/>
                </a:solidFill>
              </a:defRPr>
            </a:pPr>
            <a:r>
              <a:rPr sz="1875" b="1">
                <a:solidFill>
                  <a:srgbClr val="17201C"/>
                </a:solidFill>
              </a:rPr>
              <a:t>0708 学习笔记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CC572-A723-4B8D-9710-E4CF0052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14600"/>
            <a:ext cx="5905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E4E210-28CC-45AB-B163-C3E2FAF5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812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1C"/>
                </a:solidFill>
              </a:defRPr>
            </a:pPr>
            <a:r>
              <a:rPr sz="1050" b="1">
                <a:solidFill>
                  <a:srgbClr val="17201C"/>
                </a:solidFill>
              </a:rPr>
              <a:t>编辑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462B0-D657-4C33-BC48-3D256081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5905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C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F6A4BC-5E60-4751-930E-E0FDF845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812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7A65"/>
                </a:solidFill>
              </a:defRPr>
            </a:pPr>
            <a:r>
              <a:rPr sz="1050" b="1">
                <a:solidFill>
                  <a:srgbClr val="1F7A65"/>
                </a:solidFill>
              </a:rPr>
              <a:t>预览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243BCB-9B07-4937-840F-9FFFC404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609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F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5D724-A4F9-45F4-9D08-DCE0F11E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812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提交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0D090A-3963-4C4F-BEEB-E553AD24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4095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ECDBF8-6A2B-41E2-A0C7-335E47AB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9090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7A65"/>
                </a:solidFill>
              </a:defRPr>
            </a:pPr>
            <a:r>
              <a:rPr sz="1500" b="0">
                <a:solidFill>
                  <a:srgbClr val="1F7A65"/>
                </a:solidFill>
              </a:rPr>
              <a:t># 今日记录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F7A65"/>
                </a:solidFill>
              </a:defRPr>
            </a:pPr>
            <a:r>
              <a:rPr sz="1500" b="0">
                <a:solidFill>
                  <a:srgbClr val="1F7A65"/>
                </a:solidFill>
              </a:rPr>
              <a:t>- 先写下想法</a:t>
            </a:r>
          </a:p>
          <a:p xmlns:a="http://schemas.openxmlformats.org/drawingml/2006/main">
            <a:pPr algn="l">
              <a:defRPr sz="1500" b="0">
                <a:solidFill>
                  <a:srgbClr val="1F7A65"/>
                </a:solidFill>
              </a:defRPr>
            </a:pPr>
            <a:r>
              <a:rPr sz="1500" b="0">
                <a:solidFill>
                  <a:srgbClr val="1F7A65"/>
                </a:solidFill>
              </a:rPr>
              <a:t>- 用 Markdown 整理结构</a:t>
            </a:r>
          </a:p>
          <a:p xmlns:a="http://schemas.openxmlformats.org/drawingml/2006/main">
            <a:pPr algn="l">
              <a:defRPr sz="1500" b="0">
                <a:solidFill>
                  <a:srgbClr val="1F7A65"/>
                </a:solidFill>
              </a:defRPr>
            </a:pPr>
            <a:r>
              <a:rPr sz="1500" b="0">
                <a:solidFill>
                  <a:srgbClr val="1F7A65"/>
                </a:solidFill>
              </a:rPr>
              <a:t>- 提交后同步到文件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AEB768-F336-48E6-AA45-F48C4665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054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5DA36B-E9E8-4CAA-9A52-C2F2A737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197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5"/>
                </a:solidFill>
              </a:defRPr>
            </a:pPr>
            <a:r>
              <a:rPr sz="1050" b="1">
                <a:solidFill>
                  <a:srgbClr val="1F7A65"/>
                </a:solidFill>
              </a:rPr>
              <a:t>已同步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CBA30E-3D39-40EE-B729-D2A71237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197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06B"/>
                </a:solidFill>
              </a:defRPr>
            </a:pPr>
            <a:r>
              <a:rPr sz="975" b="0">
                <a:solidFill>
                  <a:srgbClr val="64706B"/>
                </a:solidFill>
              </a:rPr>
              <a:t>更新于 07/08 11:28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BE79B3-5826-44B2-8CE7-451DA5C7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1123950" cy="-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7A6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15E165-655A-4389-B5A1-B529937B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336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65"/>
                </a:solidFill>
              </a:defRPr>
            </a:pPr>
            <a:r>
              <a:rPr sz="1500" b="1">
                <a:solidFill>
                  <a:srgbClr val="1F7A65"/>
                </a:solidFill>
              </a:rPr>
              <a:t>列表区只负责选择、搜索、删除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E70466-C289-4549-871B-4980D4AD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F9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761566-155A-451E-88D2-A6C38CD2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052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F98"/>
                </a:solidFill>
              </a:defRPr>
            </a:pPr>
            <a:r>
              <a:rPr sz="1425" b="1">
                <a:solidFill>
                  <a:srgbClr val="2F5F98"/>
                </a:solidFill>
              </a:rPr>
              <a:t>编辑区把 Markdown 输入和预览切换放在同一工作面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87F29F-9BA2-43A5-8D63-E63C2146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49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6A2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8851F0-6774-4D8D-9F6E-59A20958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05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6A2C"/>
                </a:solidFill>
              </a:defRPr>
            </a:pPr>
            <a:r>
              <a:rPr sz="1500" b="1">
                <a:solidFill>
                  <a:srgbClr val="E26A2C"/>
                </a:solidFill>
              </a:rPr>
              <a:t>底部反馈同步状态和更新时间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77D277-724A-4907-BAF5-71E63EDB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B"/>
                </a:solidFill>
              </a:defRPr>
            </a:pPr>
            <a:r>
              <a:rPr sz="1050" b="0">
                <a:solidFill>
                  <a:srgbClr val="6470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9311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077701-58F6-437E-9AE1-0C125AA8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C"/>
                </a:solidFill>
              </a:defRPr>
            </a:pPr>
            <a:r>
              <a:rPr sz="2850" b="1">
                <a:solidFill>
                  <a:srgbClr val="17201C"/>
                </a:solidFill>
              </a:rPr>
              <a:t>Markdown 体验由输入高亮和安全渲染共同支撑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79C7B-5EF6-49CD-BBC0-EBE2B845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6B"/>
                </a:solidFill>
              </a:defRPr>
            </a:pPr>
            <a:r>
              <a:rPr sz="1425" b="0">
                <a:solidFill>
                  <a:srgbClr val="64706B"/>
                </a:solidFill>
              </a:rPr>
              <a:t>当前实现不是完整 Markdown 引擎，但覆盖常用写作结构，并对 HTML 做转义。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00B83-DCEA-46EB-BB4C-8D6A4291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F607D-9056-4035-A492-9A88C6F2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337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45D6C-F90D-4041-993E-39E14194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337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2BF38-1266-43B0-BB3E-F613C3ED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337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0D87E-A58D-4058-98DF-3F0635AE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DCEFE8"/>
          </a:solidFill>
          <a:ln xmlns:a="http://schemas.openxmlformats.org/drawingml/2006/main" w="9525">
            <a:solidFill>
              <a:srgbClr val="1F7A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C9028-E7FD-49F5-9FE8-0A0E4537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65"/>
                </a:solidFill>
              </a:defRPr>
            </a:pPr>
            <a:r>
              <a:rPr sz="1500" b="1">
                <a:solidFill>
                  <a:srgbClr val="1F7A65"/>
                </a:solidFill>
              </a:rPr>
              <a:t>textarea 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A354D-D924-4816-958A-FA93B585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原始内容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1C355-F6E7-4087-B256-DDB35F79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43150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4EDF8"/>
          </a:solidFill>
          <a:ln xmlns:a="http://schemas.openxmlformats.org/drawingml/2006/main" w="9525">
            <a:solidFill>
              <a:srgbClr val="2F5F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30560-E72B-489C-A845-61C9121E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717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F98"/>
                </a:solidFill>
              </a:defRPr>
            </a:pPr>
            <a:r>
              <a:rPr sz="1500" b="1">
                <a:solidFill>
                  <a:srgbClr val="2F5F98"/>
                </a:solidFill>
              </a:rPr>
              <a:t>highlightMarkdown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567E8-F8C0-44AA-87AF-8ADE60FF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718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编辑态语法高亮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3757F-3320-484B-A973-04C23564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43150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E6DC"/>
          </a:solidFill>
          <a:ln xmlns:a="http://schemas.openxmlformats.org/drawingml/2006/main" w="9525">
            <a:solidFill>
              <a:srgbClr val="E26A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E72E0-B313-4AF9-B1C2-3EE6F55B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6A2C"/>
                </a:solidFill>
              </a:defRPr>
            </a:pPr>
            <a:r>
              <a:rPr sz="1500" b="1">
                <a:solidFill>
                  <a:srgbClr val="E26A2C"/>
                </a:solidFill>
              </a:rPr>
              <a:t>renderMarkdown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5E57E-0443-4E8F-9898-24C978A7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预览态 HTML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FDFDA-F7C1-4860-AE9C-29057B05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7EAE5"/>
          </a:solidFill>
          <a:ln xmlns:a="http://schemas.openxmlformats.org/drawingml/2006/main" w="9525">
            <a:solidFill>
              <a:srgbClr val="2633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8ECAC-187B-4B26-9929-FE4EDEB6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32E"/>
                </a:solidFill>
              </a:defRPr>
            </a:pPr>
            <a:r>
              <a:rPr sz="1500" b="1">
                <a:solidFill>
                  <a:srgbClr val="26332E"/>
                </a:solidFill>
              </a:rPr>
              <a:t>escapeHtml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B1943-3721-4EA1-8858-67494A97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718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脚本注入防护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020C0-6E3F-4AC2-8F23-D33B0D5E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08677-EA26-4E56-A6FC-C6E1F6BD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C"/>
                </a:solidFill>
              </a:defRPr>
            </a:pPr>
            <a:r>
              <a:rPr sz="1650" b="1">
                <a:solidFill>
                  <a:srgbClr val="17201C"/>
                </a:solidFill>
              </a:rPr>
              <a:t>支持的语法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87296-D0CE-4342-B875-278C2EFB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67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标题  列表  引用  行内代码  粗体  斜体  链接  代码块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343CD-D4C4-4BB1-AABC-6FC28B0F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960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5AF3F5-B838-4FB7-808A-BF629258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C"/>
                </a:solidFill>
              </a:defRPr>
            </a:pPr>
            <a:r>
              <a:rPr sz="1650" b="1">
                <a:solidFill>
                  <a:srgbClr val="17201C"/>
                </a:solidFill>
              </a:rPr>
              <a:t>产品含义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ABE2BA-CF9B-4E35-A56C-0702CAA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292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用较低复杂度换取足够好的学习和会议记录体验，后续可替换为成熟解析器。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C79A7-4511-4C72-8D7C-D4F8F3B8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B"/>
                </a:solidFill>
              </a:defRPr>
            </a:pPr>
            <a:r>
              <a:rPr sz="1050" b="0">
                <a:solidFill>
                  <a:srgbClr val="64706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4944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F5838-1F16-4AF1-8A1B-59AAC138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C"/>
                </a:solidFill>
              </a:defRPr>
            </a:pPr>
            <a:r>
              <a:rPr sz="2850" b="1">
                <a:solidFill>
                  <a:srgbClr val="17201C"/>
                </a:solidFill>
              </a:rPr>
              <a:t>技术架构的关键是把业务核心从运行环境中抽出来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F6CB7-6922-45DB-97F5-C516A039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6B"/>
                </a:solidFill>
              </a:defRPr>
            </a:pPr>
            <a:r>
              <a:rPr sz="1425" b="0">
                <a:solidFill>
                  <a:srgbClr val="64706B"/>
                </a:solidFill>
              </a:rPr>
              <a:t>NotesCore 同时服务浏览器、Node 服务和测试，让轻量应用也有可验证的边界。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F8E90-C65A-46BF-8A35-2E78281C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2E9E8-02DD-4BA9-B981-9306AA14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5860B-DC49-489A-B0FA-7BEFAAA3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8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交互层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4C8BF-8C02-4A23-BB0D-97C2359F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819150"/>
            <a:ext cx="813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A7A62-DCD2-4106-8EAE-8FD204AA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04900"/>
            <a:ext cx="708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1C"/>
                </a:solidFill>
              </a:defRPr>
            </a:pPr>
            <a:r>
              <a:rPr sz="1725" b="0">
                <a:solidFill>
                  <a:srgbClr val="17201C"/>
                </a:solidFill>
              </a:rPr>
              <a:t>DOM 事件 · 搜索 · 模式切换 · 主题开关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8CD61-3020-45D0-B44F-04793A41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47B0C-BC73-441B-A4FA-762250E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业务核心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87E30-7DA6-45D7-92C7-ADB0626B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813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8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A5DD1-878C-466A-BF83-A5F2FD3E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708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65"/>
                </a:solidFill>
              </a:defRPr>
            </a:pPr>
            <a:r>
              <a:rPr sz="1725" b="1">
                <a:solidFill>
                  <a:srgbClr val="1F7A65"/>
                </a:solidFill>
              </a:rPr>
              <a:t>NotesCore · NoteApp · normalize/sort/filter/render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BAA93-9852-441E-BE1F-68D8B06B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E9454-C2E0-4216-A2DA-6A5003BA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存储抽象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78E31-8356-468B-A08D-1E0451B3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3250"/>
            <a:ext cx="813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8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E49B9-CAAA-4274-9281-3A9E5358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708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1C"/>
                </a:solidFill>
              </a:defRPr>
            </a:pPr>
            <a:r>
              <a:rPr sz="1725" b="0">
                <a:solidFill>
                  <a:srgbClr val="17201C"/>
                </a:solidFill>
              </a:rPr>
              <a:t>LocalStore · RemoteStore · 失败回退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44EA5-573D-4FEF-86DB-7193C4A2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DC421-8A7A-486E-A1D5-0C353D2E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服务层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73D7A-60BC-408F-A8D3-D8059D95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05300"/>
            <a:ext cx="813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DC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22379-1CA5-4D4F-8618-A47DC1B3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91050"/>
            <a:ext cx="708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1C"/>
                </a:solidFill>
              </a:defRPr>
            </a:pPr>
            <a:r>
              <a:rPr sz="1725" b="0">
                <a:solidFill>
                  <a:srgbClr val="17201C"/>
                </a:solidFill>
              </a:rPr>
              <a:t>Node http · 静态文件 · GET/PUT /api/notes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0CE0A-E490-4521-9E85-C8B3A80D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9E32D-36CD-449B-93C2-D4C578B5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持久化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C47D8A-DF94-4DFF-8485-C45A574D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67350"/>
            <a:ext cx="8134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F4894-92E4-4892-8A08-3CAD6B7E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53100"/>
            <a:ext cx="708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1C"/>
                </a:solidFill>
              </a:defRPr>
            </a:pPr>
            <a:r>
              <a:rPr sz="1725" b="0">
                <a:solidFill>
                  <a:srgbClr val="17201C"/>
                </a:solidFill>
              </a:rPr>
              <a:t>localStorage · notes-data.json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53686-F823-427E-82E1-76C7CE23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8200BA-2F76-4298-84E0-4542EBD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36A0F7-5B0F-441F-8D93-EB38E681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51A15-7FEB-405A-8358-817D3C8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991F8-34FF-4195-A649-432C794B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962150"/>
            <a:ext cx="4572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7A6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EC378B-53B7-4F02-94D6-E05C407F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266950"/>
            <a:ext cx="228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7A65"/>
                </a:solidFill>
              </a:defRPr>
            </a:pPr>
            <a:r>
              <a:rPr sz="1350" b="1">
                <a:solidFill>
                  <a:srgbClr val="1F7A65"/>
                </a:solidFill>
              </a:rPr>
              <a:t>测试共用同一核心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FBD550-4A51-44D8-97BC-5DB6065C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907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7A6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3F40C3-C7CF-470F-8F4C-F90B3CB6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5528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7A6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0AFC65-645D-4F32-A82A-2E48DF43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B"/>
                </a:solidFill>
              </a:defRPr>
            </a:pPr>
            <a:r>
              <a:rPr sz="1050" b="0">
                <a:solidFill>
                  <a:srgbClr val="64706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3526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6EA8A5-6D4C-43AD-9A45-4DEA0557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C"/>
                </a:solidFill>
              </a:defRPr>
            </a:pPr>
            <a:r>
              <a:rPr sz="2850" b="1">
                <a:solidFill>
                  <a:srgbClr val="17201C"/>
                </a:solidFill>
              </a:rPr>
              <a:t>同步不是协作编辑，而是一套可恢复的单文件同步机制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28F30-E944-49AD-BC5F-9478A6A7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6B"/>
                </a:solidFill>
              </a:defRPr>
            </a:pPr>
            <a:r>
              <a:rPr sz="1425" b="0">
                <a:solidFill>
                  <a:srgbClr val="64706B"/>
                </a:solidFill>
              </a:rPr>
              <a:t>它通过防抖保存、轮询刷新和编辑保护降低数据丢失概率，但还没有冲突合并。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64651-9674-4B2B-8AF1-C65E8D5D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4013A-4F09-494B-BCC8-8C7B8060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908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7A6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AB68B-3ED3-436E-82EA-13D22FE3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6A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A2BB6-F3F3-47CF-820A-A779FBA2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908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5F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2ACA7-BCC4-43D8-8714-1CAFB8B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-710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B561E-9F11-4E88-97A0-3C408EBF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EAE5"/>
          </a:solidFill>
          <a:ln xmlns:a="http://schemas.openxmlformats.org/drawingml/2006/main" w="9525">
            <a:solidFill>
              <a:srgbClr val="2633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7C54A-5276-4016-A0D9-F2250B00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32E"/>
                </a:solidFill>
              </a:defRPr>
            </a:pPr>
            <a:r>
              <a:rPr sz="1800" b="1">
                <a:solidFill>
                  <a:srgbClr val="26332E"/>
                </a:solidFill>
              </a:rPr>
              <a:t>Idle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8A93E-AC12-4845-83AA-9780CC16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已同步</a:t>
            </a:r>
          </a:p>
          <a:p xmlns:a="http://schemas.openxmlformats.org/drawingml/2006/main">
            <a:pPr algn="ctr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等待输入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4CC66-D6E2-4E5B-9724-18321644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CEFE8"/>
          </a:solidFill>
          <a:ln xmlns:a="http://schemas.openxmlformats.org/drawingml/2006/main" w="9525">
            <a:solidFill>
              <a:srgbClr val="1F7A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8565D-861A-48DC-916B-ECDD40D5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7A65"/>
                </a:solidFill>
              </a:defRPr>
            </a:pPr>
            <a:r>
              <a:rPr sz="1800" b="1">
                <a:solidFill>
                  <a:srgbClr val="1F7A65"/>
                </a:solidFill>
              </a:rPr>
              <a:t>Dirty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D1D64-24D1-415D-84DC-89831303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输入变更</a:t>
            </a:r>
          </a:p>
          <a:p xmlns:a="http://schemas.openxmlformats.org/drawingml/2006/main">
            <a:pPr algn="ctr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180ms 防抖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387B0-BF47-4BD9-B390-F0E1B1F3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E6DC"/>
          </a:solidFill>
          <a:ln xmlns:a="http://schemas.openxmlformats.org/drawingml/2006/main" w="9525">
            <a:solidFill>
              <a:srgbClr val="E26A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FA5EA-810F-4177-A605-74EC11E3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717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26A2C"/>
                </a:solidFill>
              </a:defRPr>
            </a:pPr>
            <a:r>
              <a:rPr sz="1800" b="1">
                <a:solidFill>
                  <a:srgbClr val="E26A2C"/>
                </a:solidFill>
              </a:rPr>
              <a:t>Saving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0DD44-0138-4F45-A568-0175CCD6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71800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PUT /api/notes</a:t>
            </a:r>
          </a:p>
          <a:p xmlns:a="http://schemas.openxmlformats.org/drawingml/2006/main">
            <a:pPr algn="ctr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写入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FA570-A78A-4212-A7CA-C592D3FD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4EDF8"/>
          </a:solidFill>
          <a:ln xmlns:a="http://schemas.openxmlformats.org/drawingml/2006/main" w="9525">
            <a:solidFill>
              <a:srgbClr val="2F5F9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B9B73-46C5-4649-A367-DEACFAA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5F98"/>
                </a:solidFill>
              </a:defRPr>
            </a:pPr>
            <a:r>
              <a:rPr sz="1800" b="1">
                <a:solidFill>
                  <a:srgbClr val="2F5F98"/>
                </a:solidFill>
              </a:rPr>
              <a:t>Refreshing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C9C7C-2406-448E-888F-B61BEF1B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71800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2.5s 轮询</a:t>
            </a:r>
          </a:p>
          <a:p xmlns:a="http://schemas.openxmlformats.org/drawingml/2006/main">
            <a:pPr algn="ctr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非编辑时拉取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9755D-B13E-45A3-B3E2-DD43CDAA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47900"/>
            <a:ext cx="1524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86150-4A2A-46A4-AB1F-884C41F2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失败路径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C90D3-5AC2-4FDF-AA7D-3E7B74C2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14650"/>
            <a:ext cx="1104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1C"/>
                </a:solidFill>
              </a:defRPr>
            </a:pPr>
            <a:r>
              <a:rPr sz="1125" b="0">
                <a:solidFill>
                  <a:srgbClr val="17201C"/>
                </a:solidFill>
              </a:rPr>
              <a:t>远端读取失败</a:t>
            </a:r>
          </a:p>
          <a:p xmlns:a="http://schemas.openxmlformats.org/drawingml/2006/main">
            <a:pPr algn="ctr">
              <a:defRPr sz="1125" b="0">
                <a:solidFill>
                  <a:srgbClr val="17201C"/>
                </a:solidFill>
              </a:defRPr>
            </a:pPr>
            <a:r>
              <a:rPr sz="1125" b="0">
                <a:solidFill>
                  <a:srgbClr val="17201C"/>
                </a:solidFill>
              </a:rPr>
              <a:t>回退 localStorage</a:t>
            </a:r>
          </a:p>
          <a:p xmlns:a="http://schemas.openxmlformats.org/drawingml/2006/main">
            <a:pPr algn="ctr">
              <a:defRPr sz="1125" b="0">
                <a:solidFill>
                  <a:srgbClr val="17201C"/>
                </a:solidFill>
              </a:defRPr>
            </a:pPr>
            <a:r>
              <a:rPr sz="1125" b="0">
                <a:solidFill>
                  <a:srgbClr val="17201C"/>
                </a:solidFill>
              </a:rPr>
              <a:t>远端写入失败</a:t>
            </a:r>
          </a:p>
          <a:p xmlns:a="http://schemas.openxmlformats.org/drawingml/2006/main">
            <a:pPr algn="ctr">
              <a:defRPr sz="1125" b="0">
                <a:solidFill>
                  <a:srgbClr val="17201C"/>
                </a:solidFill>
              </a:defRPr>
            </a:pPr>
            <a:r>
              <a:rPr sz="1125" b="0">
                <a:solidFill>
                  <a:srgbClr val="17201C"/>
                </a:solidFill>
              </a:rPr>
              <a:t>保留当前状态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BF9BE-5F34-4291-A75B-CA09EA6C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9505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574FC-F7CE-4989-9A89-8F4732DA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43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C"/>
                </a:solidFill>
              </a:defRPr>
            </a:pPr>
            <a:r>
              <a:rPr sz="1650" b="1">
                <a:solidFill>
                  <a:srgbClr val="17201C"/>
                </a:solidFill>
              </a:rPr>
              <a:t>边界条件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71CEA0-34C2-4062-BF89-B6A3521B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625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正在编辑时跳过刷新，避免远端轮询覆盖用户输入；多浏览器同时编辑时仍需要后续冲突提示。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E7AB8B-0BC9-42F6-92F7-3AE10E79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B"/>
                </a:solidFill>
              </a:defRPr>
            </a:pPr>
            <a:r>
              <a:rPr sz="1050" b="0">
                <a:solidFill>
                  <a:srgbClr val="64706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0189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49EE89-64D8-46F9-92E0-ADFD6A6E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C"/>
                </a:solidFill>
              </a:defRPr>
            </a:pPr>
            <a:r>
              <a:rPr sz="2850" b="1">
                <a:solidFill>
                  <a:srgbClr val="17201C"/>
                </a:solidFill>
              </a:rPr>
              <a:t>数据契约很小，但已经形成前后端一致的约束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D4562-07E2-456B-9DD9-9AA34A56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6B"/>
                </a:solidFill>
              </a:defRPr>
            </a:pPr>
            <a:r>
              <a:rPr sz="1425" b="0">
                <a:solidFill>
                  <a:srgbClr val="64706B"/>
                </a:solidFill>
              </a:rPr>
              <a:t>笔记数组是唯一业务数据，服务端和前端都通过 normalizeNotes 保持结构可靠。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69B3F-E0AE-4CBC-99CE-A6A9CAC5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A58AB-7689-4751-BC81-3C2E207D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6957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1FB4A-FBCA-4747-A606-2FB8CB11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1C"/>
                </a:solidFill>
              </a:defRPr>
            </a:pPr>
            <a:r>
              <a:rPr sz="2025" b="1">
                <a:solidFill>
                  <a:srgbClr val="17201C"/>
                </a:solidFill>
              </a:rPr>
              <a:t>Note 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46BCA-D50B-4769-8B31-F732537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DE92C-C375-4D39-91B9-1CE38B92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7A65"/>
                </a:solidFill>
              </a:defRPr>
            </a:pPr>
            <a:r>
              <a:rPr sz="1275" b="1">
                <a:solidFill>
                  <a:srgbClr val="1F7A65"/>
                </a:solidFill>
              </a:rPr>
              <a:t>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441CE-8AD7-4C1A-B8B7-2F043FE7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718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5F98"/>
                </a:solidFill>
              </a:defRPr>
            </a:pPr>
            <a:r>
              <a:rPr sz="1200" b="0">
                <a:solidFill>
                  <a:srgbClr val="2F5F98"/>
                </a:solidFill>
              </a:rPr>
              <a:t>string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CB5EB-9822-4DCF-B90D-A5E0B47E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718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唯一标识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8EF06-5DCA-423E-B4B5-F0F0E8AE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3775F-30E5-467D-89F0-B06A88CB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7A65"/>
                </a:solidFill>
              </a:defRPr>
            </a:pPr>
            <a:r>
              <a:rPr sz="1275" b="1">
                <a:solidFill>
                  <a:srgbClr val="1F7A65"/>
                </a:solidFill>
              </a:rPr>
              <a:t>title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86841-09C0-4F54-8794-3FE93CB7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718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5F98"/>
                </a:solidFill>
              </a:defRPr>
            </a:pPr>
            <a:r>
              <a:rPr sz="1200" b="0">
                <a:solidFill>
                  <a:srgbClr val="2F5F98"/>
                </a:solidFill>
              </a:rPr>
              <a:t>string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01751-540E-4764-9C72-9D408D47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标题或默认标题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A5082-2326-4DC4-A24D-075722DF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715DF-807D-40DB-AD0C-213B750B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7A65"/>
                </a:solidFill>
              </a:defRPr>
            </a:pPr>
            <a:r>
              <a:rPr sz="1275" b="1">
                <a:solidFill>
                  <a:srgbClr val="1F7A65"/>
                </a:solidFill>
              </a:rPr>
              <a:t>content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A5FAC-FED1-4097-9303-33C9F4F1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5F98"/>
                </a:solidFill>
              </a:defRPr>
            </a:pPr>
            <a:r>
              <a:rPr sz="1200" b="0">
                <a:solidFill>
                  <a:srgbClr val="2F5F98"/>
                </a:solidFill>
              </a:rPr>
              <a:t>string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25B9D-0B0F-4894-9C72-5A27A703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719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Markdown 文本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C8255-74BC-4405-A153-27032FD0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FB158-D171-41E6-A8D0-13002BFD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7A65"/>
                </a:solidFill>
              </a:defRPr>
            </a:pPr>
            <a:r>
              <a:rPr sz="1275" b="1">
                <a:solidFill>
                  <a:srgbClr val="1F7A65"/>
                </a:solidFill>
              </a:rPr>
              <a:t>createdAt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9A868-751F-4A6D-AC5C-26BECAAD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719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5F98"/>
                </a:solidFill>
              </a:defRPr>
            </a:pPr>
            <a:r>
              <a:rPr sz="1200" b="0">
                <a:solidFill>
                  <a:srgbClr val="2F5F98"/>
                </a:solidFill>
              </a:rPr>
              <a:t>ISO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992FE-BCDA-4D23-8C1D-4C5E46DD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719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创建时间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83795-2C03-4606-9710-079A07AD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99B04-BABE-4C70-98AB-058D68AE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7A65"/>
                </a:solidFill>
              </a:defRPr>
            </a:pPr>
            <a:r>
              <a:rPr sz="1275" b="1">
                <a:solidFill>
                  <a:srgbClr val="1F7A65"/>
                </a:solidFill>
              </a:rPr>
              <a:t>updatedAt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CD7833-4ED5-41B6-AC20-8265185E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5F98"/>
                </a:solidFill>
              </a:defRPr>
            </a:pPr>
            <a:r>
              <a:rPr sz="1200" b="0">
                <a:solidFill>
                  <a:srgbClr val="2F5F98"/>
                </a:solidFill>
              </a:rPr>
              <a:t>ISO 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D00C86-88EF-45A7-9C30-FE1ED7A4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720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排序与同步显示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586D1-1AD0-496A-9A7E-A3757AEF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19300"/>
            <a:ext cx="2781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8"/>
          </a:solidFill>
          <a:ln xmlns:a="http://schemas.openxmlformats.org/drawingml/2006/main" w="9525">
            <a:solidFill>
              <a:srgbClr val="1F7A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9A5B0-2FAC-4274-A491-7E411518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65"/>
                </a:solidFill>
              </a:defRPr>
            </a:pPr>
            <a:r>
              <a:rPr sz="1875" b="1">
                <a:solidFill>
                  <a:srgbClr val="1F7A65"/>
                </a:solidFill>
              </a:rPr>
              <a:t>GET /api/notes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069D24-2882-467C-B18D-13250C22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读取 notes-data.json，失败返回空数组。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C67108-723D-4407-A106-D81F95A0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0000"/>
            <a:ext cx="2781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DC"/>
          </a:solidFill>
          <a:ln xmlns:a="http://schemas.openxmlformats.org/drawingml/2006/main" w="9525">
            <a:solidFill>
              <a:srgbClr val="E26A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D85D8D-6596-438B-98F6-1D8844E5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14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6A2C"/>
                </a:solidFill>
              </a:defRPr>
            </a:pPr>
            <a:r>
              <a:rPr sz="1875" b="1">
                <a:solidFill>
                  <a:srgbClr val="E26A2C"/>
                </a:solidFill>
              </a:rPr>
              <a:t>PUT /api/notes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72EBF4-A7CC-432E-AB6A-26646F77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91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限制 1MB 请求体，解析后统一规范化并写回。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BEF722-900E-439F-93A5-62948277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2514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267094-55D7-43C6-B337-D1B83250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05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1C"/>
                </a:solidFill>
              </a:defRPr>
            </a:pPr>
            <a:r>
              <a:rPr sz="2025" b="1">
                <a:solidFill>
                  <a:srgbClr val="17201C"/>
                </a:solidFill>
              </a:rPr>
              <a:t>安全与可靠性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8895E2-A134-4EB9-8228-670E543C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6E341C-9495-4C66-99AA-2B5E9325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14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路径解析阻止目录穿越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2A55F3-4041-40E3-9CA2-286A93F0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38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EBCDBF-BC3B-42B8-83B9-3AC2A1E4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71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HTML 转义降低 XSS 风险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AEC75A-7A61-470C-84D9-2B54A2BA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A7131E-7561-43BE-9EE7-1367B340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29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当前仍缺少原子写入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0DC30A-E7AF-4872-829F-A8A4604F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EAB947-BD61-44F9-AC70-009A183A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86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当前仍缺少冲突版本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F70E69-61C4-4675-ABBB-35FFF9BD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B"/>
                </a:solidFill>
              </a:defRPr>
            </a:pPr>
            <a:r>
              <a:rPr sz="1050" b="0">
                <a:solidFill>
                  <a:srgbClr val="64706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0331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9BDAF1-6F38-4BF3-8BD8-3C6298B1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1C"/>
                </a:solidFill>
              </a:defRPr>
            </a:pPr>
            <a:r>
              <a:rPr sz="2850" b="1">
                <a:solidFill>
                  <a:srgbClr val="17201C"/>
                </a:solidFill>
              </a:rPr>
              <a:t>下一步应该围绕可靠性和专业写作体验继续打磨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1EE09-FFA4-4834-93CE-DD28983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6B"/>
                </a:solidFill>
              </a:defRPr>
            </a:pPr>
            <a:r>
              <a:rPr sz="1425" b="0">
                <a:solidFill>
                  <a:srgbClr val="64706B"/>
                </a:solidFill>
              </a:rPr>
              <a:t>当前系统已经有测试基础，演进方向应优先保护用户数据，再提升编辑效率。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7BF4F-649F-4CA3-BD52-1871FA96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E8E6C-9D7C-47DF-8D56-62D2777E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095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96C97-5EBA-4472-A79B-DCA4293A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</a:defRPr>
            </a:pPr>
            <a:r>
              <a:rPr sz="1875" b="1">
                <a:solidFill>
                  <a:srgbClr val="B42318"/>
                </a:solidFill>
              </a:rPr>
              <a:t>立即修复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A347C-674C-4E21-AA2A-6AA6D847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1428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统一中文编码</a:t>
            </a:r>
          </a:p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清理乱码文案</a:t>
            </a:r>
          </a:p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补充错误提示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50B70-EA1F-46D5-A80F-EDF2A394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6AD88-F32F-447E-B1C3-2DF15159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095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08182-C729-411E-93C3-1AA7B5AE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6A2C"/>
                </a:solidFill>
              </a:defRPr>
            </a:pPr>
            <a:r>
              <a:rPr sz="1875" b="1">
                <a:solidFill>
                  <a:srgbClr val="E26A2C"/>
                </a:solidFill>
              </a:rPr>
              <a:t>短期增强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53912-B8A2-4EED-A3FF-6B2E62D5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1428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原子写入 JSON</a:t>
            </a:r>
          </a:p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导入导出</a:t>
            </a:r>
          </a:p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自动备份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80517-77CE-48ED-A850-1A62CAF2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434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FDBC4-F645-4155-BBBA-66A3C0D2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2095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8D973-8A9C-4575-8482-54A81116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5F98"/>
                </a:solidFill>
              </a:defRPr>
            </a:pPr>
            <a:r>
              <a:rPr sz="1875" b="1">
                <a:solidFill>
                  <a:srgbClr val="2F5F98"/>
                </a:solidFill>
              </a:rPr>
              <a:t>中期能力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E8755-3A73-42F5-8A09-2E79D4EE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86100"/>
            <a:ext cx="1428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冲突提示</a:t>
            </a:r>
          </a:p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版本历史</a:t>
            </a:r>
          </a:p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全文索引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6AB10-BC46-4C8B-9EAA-0607AFDC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434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5835D-2EAC-4E85-8451-36B928F8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2095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40DB2-B406-4BB2-98FD-0911783B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65"/>
                </a:solidFill>
              </a:defRPr>
            </a:pPr>
            <a:r>
              <a:rPr sz="1875" b="1">
                <a:solidFill>
                  <a:srgbClr val="1F7A65"/>
                </a:solidFill>
              </a:rPr>
              <a:t>长期方向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1790C-0CB1-41F5-9EB6-E5447340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86100"/>
            <a:ext cx="1428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账号与权限</a:t>
            </a:r>
          </a:p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多端同步</a:t>
            </a:r>
          </a:p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插件化解析器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FCA7C-7947-443E-ACA4-1ED5231A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434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7848B-2935-4BF4-800D-76F3C71E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1C"/>
                </a:solidFill>
              </a:defRPr>
            </a:pPr>
            <a:r>
              <a:rPr sz="1875" b="1">
                <a:solidFill>
                  <a:srgbClr val="17201C"/>
                </a:solidFill>
              </a:rPr>
              <a:t>判断标准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A1049-9BEA-44C7-8276-A89D927F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483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C"/>
                </a:solidFill>
              </a:defRPr>
            </a:pPr>
            <a:r>
              <a:rPr sz="1575" b="0">
                <a:solidFill>
                  <a:srgbClr val="17201C"/>
                </a:solidFill>
              </a:rPr>
              <a:t>每一次增强都应该继续保持轻笔记的核心：打开快、写起来轻、数据可找回。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1DC5B-40C8-47DD-8805-6B29F29F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B"/>
                </a:solidFill>
              </a:defRPr>
            </a:pPr>
            <a:r>
              <a:rPr sz="1050" b="0">
                <a:solidFill>
                  <a:srgbClr val="64706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74947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2026-07-08T04:23:49.6280000Z</dcterms:created>
  <dcterms:modified xsi:type="dcterms:W3CDTF">2026-07-08T04:23:49.6280000Z</dcterms:modified>
</coreProperties>
</file>